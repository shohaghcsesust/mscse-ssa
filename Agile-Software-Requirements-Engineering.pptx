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93" r:id="rId12"/>
    <p:sldId id="286" r:id="rId13"/>
    <p:sldId id="287" r:id="rId14"/>
    <p:sldId id="288" r:id="rId15"/>
    <p:sldId id="289" r:id="rId16"/>
    <p:sldId id="290" r:id="rId17"/>
    <p:sldId id="291" r:id="rId18"/>
    <p:sldId id="276" r:id="rId19"/>
  </p:sldIdLst>
  <p:sldSz cx="14630400" cy="8229600"/>
  <p:notesSz cx="8229600" cy="14630400"/>
  <p:embeddedFontLs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Raleway Light" pitchFamily="2" charset="0"/>
      <p:regular r:id="rId25"/>
      <p: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8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78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9b187f17e_0_2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79b187f17e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9b187f17e_0_3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79b187f17e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2569672" y="1157630"/>
            <a:ext cx="9500640" cy="142656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2569672" y="3165654"/>
            <a:ext cx="950064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31520" lvl="0" indent="-54864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1pPr>
            <a:lvl2pPr marL="1463040" lvl="1" indent="-54864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2pPr>
            <a:lvl3pPr marL="2194560" lvl="2" indent="-54864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3pPr>
            <a:lvl4pPr marL="2926080" lvl="3" indent="-54864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4pPr>
            <a:lvl5pPr marL="3657600" lvl="4" indent="-54864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5pPr>
            <a:lvl6pPr marL="4389120" lvl="5" indent="-54864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6pPr>
            <a:lvl7pPr marL="5120640" lvl="6" indent="-54864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7pPr>
            <a:lvl8pPr marL="5852160" lvl="7" indent="-54864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8pPr>
            <a:lvl9pPr marL="6583680" lvl="8" indent="-54864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9566309" y="7486579"/>
            <a:ext cx="330432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1763582" y="7483450"/>
            <a:ext cx="729072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>
            <a:spLocks noGrp="1"/>
          </p:cNvSpPr>
          <p:nvPr>
            <p:ph type="sldNum" idx="12"/>
          </p:nvPr>
        </p:nvSpPr>
        <p:spPr>
          <a:xfrm>
            <a:off x="13184179" y="7461504"/>
            <a:ext cx="585120" cy="438720"/>
          </a:xfrm>
          <a:prstGeom prst="ellipse">
            <a:avLst/>
          </a:prstGeom>
          <a:solidFill>
            <a:srgbClr val="1D1D1D">
              <a:alpha val="6980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2222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ure.port.ac.uk/ws/portalfiles/portal/75915474/Agile_Software_Requirements_Engineering_Challenges_Solutions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5811" y="1693626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Agile Software Requirements Engineering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35811" y="3013077"/>
            <a:ext cx="56563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Challenges, Solutions &amp; A Conceptual Framework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135811" y="3620891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systematic literature review examining requirements engineering practices, challenges, and solutions in agile software development from 2009-2023.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135811" y="4486832"/>
            <a:ext cx="1631037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254873" y="4546363"/>
            <a:ext cx="139291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REVIEW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66027" y="4479212"/>
            <a:ext cx="2462093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992709" y="4546363"/>
            <a:ext cx="220872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REQUIREMENTS ENGINEERING</a:t>
            </a:r>
            <a:endParaRPr lang="en-US" sz="12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E73164-CDDC-D590-EADB-8E632D3112A0}"/>
              </a:ext>
            </a:extLst>
          </p:cNvPr>
          <p:cNvSpPr txBox="1"/>
          <p:nvPr/>
        </p:nvSpPr>
        <p:spPr>
          <a:xfrm>
            <a:off x="6377032" y="5098456"/>
            <a:ext cx="73152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buSzPts val="2610"/>
            </a:pPr>
            <a:r>
              <a:rPr lang="en-US" sz="1800" dirty="0">
                <a:latin typeface="Raleway" pitchFamily="2" charset="0"/>
              </a:rPr>
              <a:t>Presented by: </a:t>
            </a:r>
            <a:r>
              <a:rPr lang="en-GB" dirty="0">
                <a:latin typeface="Raleway" pitchFamily="2" charset="0"/>
              </a:rPr>
              <a:t>Abu </a:t>
            </a:r>
            <a:r>
              <a:rPr lang="en-GB" dirty="0" err="1">
                <a:latin typeface="Raleway" pitchFamily="2" charset="0"/>
              </a:rPr>
              <a:t>Ekhtiar</a:t>
            </a:r>
            <a:r>
              <a:rPr lang="en-GB" dirty="0">
                <a:latin typeface="Raleway" pitchFamily="2" charset="0"/>
              </a:rPr>
              <a:t> Tawhid (0122230018),</a:t>
            </a:r>
          </a:p>
          <a:p>
            <a:pPr lvl="0" algn="r">
              <a:buSzPts val="2610"/>
            </a:pPr>
            <a:r>
              <a:rPr lang="en-US" sz="1800" dirty="0">
                <a:latin typeface="Raleway" pitchFamily="2" charset="0"/>
              </a:rPr>
              <a:t>Md. Ahsan Kabir (0122520016) </a:t>
            </a:r>
          </a:p>
          <a:p>
            <a:pPr lvl="0" algn="r">
              <a:buSzPts val="2610"/>
            </a:pPr>
            <a:r>
              <a:rPr lang="en-US" sz="1800" dirty="0">
                <a:latin typeface="Raleway" pitchFamily="2" charset="0"/>
              </a:rPr>
              <a:t>&amp; </a:t>
            </a:r>
            <a:r>
              <a:rPr lang="en-GB" dirty="0">
                <a:latin typeface="Raleway" pitchFamily="2" charset="0"/>
              </a:rPr>
              <a:t>Abu Sadat Al Rafi (0122230017)</a:t>
            </a:r>
            <a:r>
              <a:rPr lang="en-US" sz="1800" dirty="0">
                <a:latin typeface="Raleway" pitchFamily="2" charset="0"/>
              </a:rPr>
              <a:t> </a:t>
            </a:r>
          </a:p>
          <a:p>
            <a:pPr marL="0" lvl="0" indent="0" algn="r" rtl="0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lang="en-US" sz="1800" dirty="0">
                <a:latin typeface="Raleway" pitchFamily="2" charset="0"/>
              </a:rPr>
              <a:t>Date: </a:t>
            </a:r>
            <a:r>
              <a:rPr lang="en-US" dirty="0">
                <a:latin typeface="Raleway" pitchFamily="2" charset="0"/>
              </a:rPr>
              <a:t>17</a:t>
            </a:r>
            <a:r>
              <a:rPr lang="en-US" sz="1800" baseline="30000" dirty="0">
                <a:latin typeface="Raleway" pitchFamily="2" charset="0"/>
              </a:rPr>
              <a:t>th</a:t>
            </a:r>
            <a:r>
              <a:rPr lang="en-US" sz="1800" dirty="0">
                <a:latin typeface="Raleway" pitchFamily="2" charset="0"/>
              </a:rPr>
              <a:t> January 2026</a:t>
            </a:r>
          </a:p>
          <a:p>
            <a:pPr marL="0" lvl="0" indent="0" algn="r" rtl="0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lang="en-US" sz="1800" dirty="0">
                <a:latin typeface="Raleway" pitchFamily="2" charset="0"/>
              </a:rPr>
              <a:t>United International University (UIU)</a:t>
            </a:r>
          </a:p>
          <a:p>
            <a:pPr lvl="0" algn="r">
              <a:spcBef>
                <a:spcPts val="960"/>
              </a:spcBef>
              <a:buSzPts val="2610"/>
            </a:pPr>
            <a:r>
              <a:rPr lang="en-US" sz="1800" dirty="0">
                <a:latin typeface="Raleway" pitchFamily="2" charset="0"/>
              </a:rPr>
              <a:t>Course: </a:t>
            </a:r>
            <a:r>
              <a:rPr lang="en-GB" dirty="0">
                <a:latin typeface="Raleway" pitchFamily="2" charset="0"/>
              </a:rPr>
              <a:t>CSE 6159 (M) </a:t>
            </a:r>
            <a:r>
              <a:rPr lang="en-US" sz="1800" dirty="0">
                <a:latin typeface="Raleway" pitchFamily="2" charset="0"/>
              </a:rPr>
              <a:t>Software Specification Analysis (SSA)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BF21E-F5F6-DA73-A840-4FCDC996B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469" y="5303205"/>
            <a:ext cx="1569720" cy="142367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C44D0B-0831-0EE2-33F5-9088478FB29E}"/>
              </a:ext>
            </a:extLst>
          </p:cNvPr>
          <p:cNvSpPr txBox="1"/>
          <p:nvPr/>
        </p:nvSpPr>
        <p:spPr>
          <a:xfrm>
            <a:off x="6011024" y="945595"/>
            <a:ext cx="66913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latin typeface="Raleway" pitchFamily="2" charset="0"/>
              </a:rPr>
              <a:t>Knowledge Sharing Presentation (CT2)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13E60-30ED-F984-8B96-3E786A3E4242}"/>
              </a:ext>
            </a:extLst>
          </p:cNvPr>
          <p:cNvSpPr txBox="1"/>
          <p:nvPr/>
        </p:nvSpPr>
        <p:spPr>
          <a:xfrm>
            <a:off x="1491915" y="1026694"/>
            <a:ext cx="12095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Raleway" pitchFamily="2" charset="0"/>
              </a:rPr>
              <a:t>Title: </a:t>
            </a:r>
            <a:r>
              <a:rPr lang="en-US" sz="2800" dirty="0">
                <a:latin typeface="Raleway" pitchFamily="2" charset="0"/>
              </a:rPr>
              <a:t>Agile Software Requirements Engineering Challenges-Solutions—A Conceptual Framework from Systematic 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A62DD-D9B4-4A82-DFF7-E3C7617F5DBA}"/>
              </a:ext>
            </a:extLst>
          </p:cNvPr>
          <p:cNvSpPr txBox="1"/>
          <p:nvPr/>
        </p:nvSpPr>
        <p:spPr>
          <a:xfrm>
            <a:off x="1491913" y="2148986"/>
            <a:ext cx="120957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Raleway" pitchFamily="2" charset="0"/>
              </a:rPr>
              <a:t>Author: </a:t>
            </a:r>
            <a:r>
              <a:rPr lang="en-US" sz="2800" dirty="0">
                <a:latin typeface="Raleway" pitchFamily="2" charset="0"/>
              </a:rPr>
              <a:t>Zoe Hoy and Mark Xu</a:t>
            </a:r>
          </a:p>
          <a:p>
            <a:r>
              <a:rPr lang="en-US" sz="2400" dirty="0">
                <a:latin typeface="Raleway" pitchFamily="2" charset="0"/>
              </a:rPr>
              <a:t>Portsmouth Business School, University of Portsmouth, Portsmouth PO1 3DE, UK; zoe.hoy@port.ac.uk</a:t>
            </a:r>
          </a:p>
          <a:p>
            <a:r>
              <a:rPr lang="en-US" sz="2400" b="1" dirty="0">
                <a:latin typeface="Raleway" pitchFamily="2" charset="0"/>
              </a:rPr>
              <a:t>* </a:t>
            </a:r>
            <a:r>
              <a:rPr lang="en-US" sz="2400" dirty="0">
                <a:latin typeface="Raleway" pitchFamily="2" charset="0"/>
              </a:rPr>
              <a:t>Correspondence: mark.xu@port.ac.uk</a:t>
            </a:r>
            <a:endParaRPr lang="en-US" sz="3600" dirty="0">
              <a:latin typeface="Raleway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C3A8E-B965-B175-739B-80A87839B902}"/>
              </a:ext>
            </a:extLst>
          </p:cNvPr>
          <p:cNvSpPr txBox="1"/>
          <p:nvPr/>
        </p:nvSpPr>
        <p:spPr>
          <a:xfrm>
            <a:off x="1491915" y="4792377"/>
            <a:ext cx="12095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Raleway" pitchFamily="2" charset="0"/>
              </a:rPr>
              <a:t>Keywords: </a:t>
            </a:r>
            <a:r>
              <a:rPr lang="en-US" sz="2800" dirty="0">
                <a:latin typeface="Raleway" pitchFamily="2" charset="0"/>
              </a:rPr>
              <a:t>requirements engineering; agile software development; software testing; project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6AAEA-956C-81A4-A156-1462F0E17F3F}"/>
              </a:ext>
            </a:extLst>
          </p:cNvPr>
          <p:cNvSpPr txBox="1"/>
          <p:nvPr/>
        </p:nvSpPr>
        <p:spPr>
          <a:xfrm>
            <a:off x="1491915" y="4077308"/>
            <a:ext cx="836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Raleway" pitchFamily="2" charset="0"/>
              </a:rPr>
              <a:t>Publication:</a:t>
            </a:r>
            <a:r>
              <a:rPr lang="en-US" sz="2800" dirty="0">
                <a:latin typeface="Raleway" pitchFamily="2" charset="0"/>
              </a:rPr>
              <a:t> MDPI scientific journal, 6</a:t>
            </a:r>
            <a:r>
              <a:rPr lang="en-US" sz="2800" baseline="30000" dirty="0">
                <a:latin typeface="Raleway" pitchFamily="2" charset="0"/>
              </a:rPr>
              <a:t>th</a:t>
            </a:r>
            <a:r>
              <a:rPr lang="en-US" sz="2800" dirty="0">
                <a:latin typeface="Raleway" pitchFamily="2" charset="0"/>
              </a:rPr>
              <a:t> June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E78D-FFFB-A22E-73BC-B0F57EAD78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latin typeface="Raleway" pitchFamily="2" charset="0"/>
              </a:rPr>
              <a:pPr/>
              <a:t>2</a:t>
            </a:fld>
            <a:endParaRPr lang="en">
              <a:latin typeface="Raleway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3A407-B0A7-B998-AD6C-000EF972E1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33D2897-C49C-1A80-C376-D39B61036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9" y="0"/>
            <a:ext cx="4812633" cy="721895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9E87651-ACF4-E89B-0FDF-8D18EEA68162}"/>
              </a:ext>
            </a:extLst>
          </p:cNvPr>
          <p:cNvSpPr/>
          <p:nvPr/>
        </p:nvSpPr>
        <p:spPr>
          <a:xfrm>
            <a:off x="793790" y="104096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Overview</a:t>
            </a:r>
            <a:endParaRPr lang="en-US" sz="39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B4C2041-AE27-F22C-8F45-C07A057CA6D4}"/>
              </a:ext>
            </a:extLst>
          </p:cNvPr>
          <p:cNvSpPr/>
          <p:nvPr/>
        </p:nvSpPr>
        <p:spPr>
          <a:xfrm>
            <a:off x="793790" y="1958697"/>
            <a:ext cx="7556421" cy="1158716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0B719DB-9502-5B97-8E93-9F5E50168DE8}"/>
              </a:ext>
            </a:extLst>
          </p:cNvPr>
          <p:cNvSpPr/>
          <p:nvPr/>
        </p:nvSpPr>
        <p:spPr>
          <a:xfrm>
            <a:off x="999768" y="21646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Period</a:t>
            </a:r>
            <a:endParaRPr lang="en-US" sz="19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5CA0A82-7239-CA8A-DB64-99808A08175E}"/>
              </a:ext>
            </a:extLst>
          </p:cNvPr>
          <p:cNvSpPr/>
          <p:nvPr/>
        </p:nvSpPr>
        <p:spPr>
          <a:xfrm>
            <a:off x="999768" y="2593896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2009-2023 systematic literature review</a:t>
            </a:r>
            <a:endParaRPr lang="en-US" sz="15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6019EEBB-9AAF-B0BC-B748-037520CCDF7A}"/>
              </a:ext>
            </a:extLst>
          </p:cNvPr>
          <p:cNvSpPr/>
          <p:nvPr/>
        </p:nvSpPr>
        <p:spPr>
          <a:xfrm>
            <a:off x="793790" y="3315772"/>
            <a:ext cx="7556421" cy="1158716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28FBF4D-F447-3782-C50E-36F5C2C57848}"/>
              </a:ext>
            </a:extLst>
          </p:cNvPr>
          <p:cNvSpPr/>
          <p:nvPr/>
        </p:nvSpPr>
        <p:spPr>
          <a:xfrm>
            <a:off x="999768" y="35217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19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65DCC7E-0655-71AB-C9FA-8EE9297AB247}"/>
              </a:ext>
            </a:extLst>
          </p:cNvPr>
          <p:cNvSpPr/>
          <p:nvPr/>
        </p:nvSpPr>
        <p:spPr>
          <a:xfrm>
            <a:off x="999768" y="3950970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Scopus primary source with multiple database validation</a:t>
            </a:r>
            <a:endParaRPr lang="en-US" sz="15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CD9751A4-BBE2-D5C6-8F1D-2761E0066A42}"/>
              </a:ext>
            </a:extLst>
          </p:cNvPr>
          <p:cNvSpPr/>
          <p:nvPr/>
        </p:nvSpPr>
        <p:spPr>
          <a:xfrm>
            <a:off x="793790" y="4672846"/>
            <a:ext cx="7556421" cy="1158716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E57B11D-A3A9-1698-F357-478DD730684B}"/>
              </a:ext>
            </a:extLst>
          </p:cNvPr>
          <p:cNvSpPr/>
          <p:nvPr/>
        </p:nvSpPr>
        <p:spPr>
          <a:xfrm>
            <a:off x="999768" y="48788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Papers Reviewed</a:t>
            </a:r>
            <a:endParaRPr lang="en-US" sz="19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E17D7AC-AA08-3014-1F8B-C95773F5632D}"/>
              </a:ext>
            </a:extLst>
          </p:cNvPr>
          <p:cNvSpPr/>
          <p:nvPr/>
        </p:nvSpPr>
        <p:spPr>
          <a:xfrm>
            <a:off x="999768" y="5308044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 valid papers from 38 journals</a:t>
            </a:r>
            <a:endParaRPr lang="en-US" sz="15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CD5845B-3616-E42D-EA22-4520ECC6E4F5}"/>
              </a:ext>
            </a:extLst>
          </p:cNvPr>
          <p:cNvSpPr/>
          <p:nvPr/>
        </p:nvSpPr>
        <p:spPr>
          <a:xfrm>
            <a:off x="793790" y="6029920"/>
            <a:ext cx="7556421" cy="1158716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63762E4-F113-59C7-4F14-DB6EF1A2C650}"/>
              </a:ext>
            </a:extLst>
          </p:cNvPr>
          <p:cNvSpPr/>
          <p:nvPr/>
        </p:nvSpPr>
        <p:spPr>
          <a:xfrm>
            <a:off x="999768" y="62358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Focus Area</a:t>
            </a:r>
            <a:endParaRPr lang="en-US" sz="19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B1D1760-92D4-6EB6-0A38-B87079C3B0DC}"/>
              </a:ext>
            </a:extLst>
          </p:cNvPr>
          <p:cNvSpPr/>
          <p:nvPr/>
        </p:nvSpPr>
        <p:spPr>
          <a:xfrm>
            <a:off x="999768" y="6665119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Agile requirements engineering challenges and solutions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422304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468B3-FD71-196C-3CAD-2159103A26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DB9EA16-4660-A66C-FA25-8310A2EFA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1818561"/>
            <a:ext cx="158710" cy="15871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249658E7-5F50-191B-BE7F-3BAB9250E3A9}"/>
              </a:ext>
            </a:extLst>
          </p:cNvPr>
          <p:cNvSpPr/>
          <p:nvPr/>
        </p:nvSpPr>
        <p:spPr>
          <a:xfrm>
            <a:off x="1031796" y="1770936"/>
            <a:ext cx="16808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QUESTIONS</a:t>
            </a:r>
            <a:endParaRPr lang="en-US" sz="12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72D3493-E59A-0EC9-116F-D10CA98B26EE}"/>
              </a:ext>
            </a:extLst>
          </p:cNvPr>
          <p:cNvSpPr/>
          <p:nvPr/>
        </p:nvSpPr>
        <p:spPr>
          <a:xfrm>
            <a:off x="793790" y="2163842"/>
            <a:ext cx="55279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Research Questions</a:t>
            </a:r>
            <a:endParaRPr lang="en-US" sz="39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B64B6421-E743-42B2-46F5-0418868FEA08}"/>
              </a:ext>
            </a:extLst>
          </p:cNvPr>
          <p:cNvSpPr/>
          <p:nvPr/>
        </p:nvSpPr>
        <p:spPr>
          <a:xfrm>
            <a:off x="793790" y="3081576"/>
            <a:ext cx="13042821" cy="1506736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13F0102-F038-1A6E-D315-7464E971F359}"/>
              </a:ext>
            </a:extLst>
          </p:cNvPr>
          <p:cNvSpPr/>
          <p:nvPr/>
        </p:nvSpPr>
        <p:spPr>
          <a:xfrm>
            <a:off x="816650" y="3104436"/>
            <a:ext cx="793790" cy="1461016"/>
          </a:xfrm>
          <a:prstGeom prst="roundRect">
            <a:avLst>
              <a:gd name="adj" fmla="val 704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D12130B-599E-6102-02D6-104A28D21057}"/>
              </a:ext>
            </a:extLst>
          </p:cNvPr>
          <p:cNvSpPr/>
          <p:nvPr/>
        </p:nvSpPr>
        <p:spPr>
          <a:xfrm>
            <a:off x="1060847" y="364890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F16E913-EEC7-D70B-0D41-DBB94E532E28}"/>
              </a:ext>
            </a:extLst>
          </p:cNvPr>
          <p:cNvSpPr/>
          <p:nvPr/>
        </p:nvSpPr>
        <p:spPr>
          <a:xfrm>
            <a:off x="1808798" y="3302794"/>
            <a:ext cx="28957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Typologies of Challenges</a:t>
            </a:r>
            <a:endParaRPr lang="en-US" sz="19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A2CF8AD-7B89-1D42-EC83-2792FC880EC5}"/>
              </a:ext>
            </a:extLst>
          </p:cNvPr>
          <p:cNvSpPr/>
          <p:nvPr/>
        </p:nvSpPr>
        <p:spPr>
          <a:xfrm>
            <a:off x="1808798" y="3732014"/>
            <a:ext cx="1180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are the classifications of challenges faced with agile software development in general and specifically in requirements engineering?</a:t>
            </a:r>
            <a:endParaRPr lang="en-US" sz="15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DFD54F8-42D1-CBEF-E9E4-17F5B9A180D3}"/>
              </a:ext>
            </a:extLst>
          </p:cNvPr>
          <p:cNvSpPr/>
          <p:nvPr/>
        </p:nvSpPr>
        <p:spPr>
          <a:xfrm>
            <a:off x="793790" y="4786670"/>
            <a:ext cx="13042821" cy="1190744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22CFB87A-C836-978E-FA8B-0405F190D979}"/>
              </a:ext>
            </a:extLst>
          </p:cNvPr>
          <p:cNvSpPr/>
          <p:nvPr/>
        </p:nvSpPr>
        <p:spPr>
          <a:xfrm>
            <a:off x="816650" y="4809530"/>
            <a:ext cx="793790" cy="1145024"/>
          </a:xfrm>
          <a:prstGeom prst="roundRect">
            <a:avLst>
              <a:gd name="adj" fmla="val 704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D0BD1649-323C-A1E4-E9ED-1E2CFD219747}"/>
              </a:ext>
            </a:extLst>
          </p:cNvPr>
          <p:cNvSpPr/>
          <p:nvPr/>
        </p:nvSpPr>
        <p:spPr>
          <a:xfrm>
            <a:off x="1060847" y="519600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C7A497B-79D2-10A9-58C9-8E00E0C70F8D}"/>
              </a:ext>
            </a:extLst>
          </p:cNvPr>
          <p:cNvSpPr/>
          <p:nvPr/>
        </p:nvSpPr>
        <p:spPr>
          <a:xfrm>
            <a:off x="1808798" y="5007888"/>
            <a:ext cx="253543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 Effectiveness</a:t>
            </a:r>
            <a:endParaRPr lang="en-US" sz="195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CB94DE3B-B0D4-4553-427E-53243A3D5971}"/>
              </a:ext>
            </a:extLst>
          </p:cNvPr>
          <p:cNvSpPr/>
          <p:nvPr/>
        </p:nvSpPr>
        <p:spPr>
          <a:xfrm>
            <a:off x="1808798" y="5437108"/>
            <a:ext cx="118065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 the solutions address the challenges identified in agile requirements engineering practices?</a:t>
            </a:r>
            <a:endParaRPr lang="en-US" sz="15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7708174-429B-36A3-17B2-B633F63D9902}"/>
              </a:ext>
            </a:extLst>
          </p:cNvPr>
          <p:cNvSpPr/>
          <p:nvPr/>
        </p:nvSpPr>
        <p:spPr>
          <a:xfrm>
            <a:off x="793790" y="620065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questions guide our investigation into the gap between identified challenges and available solutions in agile requirements engineering.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629495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174EA-518E-0662-A4AE-CD6C272341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9E3F3C87-6A8A-8B9A-1657-B0A7D4DF6B22}"/>
              </a:ext>
            </a:extLst>
          </p:cNvPr>
          <p:cNvSpPr/>
          <p:nvPr/>
        </p:nvSpPr>
        <p:spPr>
          <a:xfrm>
            <a:off x="793790" y="859036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Systematic Literature Review</a:t>
            </a:r>
            <a:endParaRPr lang="en-US" sz="39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E75678EF-BB01-B306-3A10-0C111F52CA1F}"/>
              </a:ext>
            </a:extLst>
          </p:cNvPr>
          <p:cNvSpPr/>
          <p:nvPr/>
        </p:nvSpPr>
        <p:spPr>
          <a:xfrm>
            <a:off x="793790" y="25952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Strategy</a:t>
            </a:r>
            <a:endParaRPr lang="en-US" sz="195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817456D0-2AF7-A043-2ADA-EE391FAF78D2}"/>
              </a:ext>
            </a:extLst>
          </p:cNvPr>
          <p:cNvSpPr/>
          <p:nvPr/>
        </p:nvSpPr>
        <p:spPr>
          <a:xfrm>
            <a:off x="793790" y="3103721"/>
            <a:ext cx="27320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Webster and Watson's concept-centric approach was used to analyze challenges and solutions.</a:t>
            </a:r>
            <a:endParaRPr lang="en-US" sz="155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20A2B740-071A-C58B-4937-CB8BD9F49AE7}"/>
              </a:ext>
            </a:extLst>
          </p:cNvPr>
          <p:cNvSpPr/>
          <p:nvPr/>
        </p:nvSpPr>
        <p:spPr>
          <a:xfrm>
            <a:off x="793790" y="4552474"/>
            <a:ext cx="27320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Scopus primary database search</a:t>
            </a:r>
            <a:endParaRPr lang="en-US" sz="155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904A3C33-EE7D-B5C4-E1FD-328C58FEC0E0}"/>
              </a:ext>
            </a:extLst>
          </p:cNvPr>
          <p:cNvSpPr/>
          <p:nvPr/>
        </p:nvSpPr>
        <p:spPr>
          <a:xfrm>
            <a:off x="793790" y="5256967"/>
            <a:ext cx="27320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Extended to IEEE, Wiley, ProQuest, Emerald</a:t>
            </a:r>
            <a:endParaRPr lang="en-US" sz="155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1C57BEDD-C820-A827-EB12-C8075731B081}"/>
              </a:ext>
            </a:extLst>
          </p:cNvPr>
          <p:cNvSpPr/>
          <p:nvPr/>
        </p:nvSpPr>
        <p:spPr>
          <a:xfrm>
            <a:off x="793790" y="5961459"/>
            <a:ext cx="27320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 assessment using Dybå and Dingsøyr criteria</a:t>
            </a:r>
            <a:endParaRPr lang="en-US" sz="155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B25280A4-659C-C0F0-84CB-BE41ECEF4281}"/>
              </a:ext>
            </a:extLst>
          </p:cNvPr>
          <p:cNvSpPr/>
          <p:nvPr/>
        </p:nvSpPr>
        <p:spPr>
          <a:xfrm>
            <a:off x="793790" y="6665952"/>
            <a:ext cx="27320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Backwards and forwards snowballing</a:t>
            </a:r>
            <a:endParaRPr lang="en-US" sz="15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520351C0-E92B-7BB9-E25D-BEC51F4F0107}"/>
              </a:ext>
            </a:extLst>
          </p:cNvPr>
          <p:cNvSpPr/>
          <p:nvPr/>
        </p:nvSpPr>
        <p:spPr>
          <a:xfrm>
            <a:off x="4017526" y="25952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Selection Process</a:t>
            </a:r>
            <a:endParaRPr lang="en-US" sz="19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C8EBC4A-C2C1-1EE2-5828-7E4534481190}"/>
              </a:ext>
            </a:extLst>
          </p:cNvPr>
          <p:cNvSpPr/>
          <p:nvPr/>
        </p:nvSpPr>
        <p:spPr>
          <a:xfrm>
            <a:off x="4017526" y="3103721"/>
            <a:ext cx="434018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Rigorous filtering ensured quality and relevance of included studies.</a:t>
            </a:r>
            <a:endParaRPr lang="en-US" sz="155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811E471-6BB5-C2D2-F68D-98A7EB0D7DC7}"/>
              </a:ext>
            </a:extLst>
          </p:cNvPr>
          <p:cNvSpPr/>
          <p:nvPr/>
        </p:nvSpPr>
        <p:spPr>
          <a:xfrm>
            <a:off x="4017526" y="3917394"/>
            <a:ext cx="434018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Initial: 411 records identified</a:t>
            </a:r>
            <a:endParaRPr lang="en-US" sz="155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2555D6EB-6166-1E7A-9A35-71111D36FF68}"/>
              </a:ext>
            </a:extLst>
          </p:cNvPr>
          <p:cNvSpPr/>
          <p:nvPr/>
        </p:nvSpPr>
        <p:spPr>
          <a:xfrm>
            <a:off x="4017526" y="4304348"/>
            <a:ext cx="434018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Screened: 398 records</a:t>
            </a:r>
            <a:endParaRPr lang="en-US" sz="155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DFE8B35C-F5BC-E6CD-AEE7-68BFBD4CBBDA}"/>
              </a:ext>
            </a:extLst>
          </p:cNvPr>
          <p:cNvSpPr/>
          <p:nvPr/>
        </p:nvSpPr>
        <p:spPr>
          <a:xfrm>
            <a:off x="4017526" y="4691301"/>
            <a:ext cx="434018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Assessed: 91 reports for eligibility</a:t>
            </a:r>
            <a:endParaRPr lang="en-US" sz="155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3FF4C9C0-6E62-2AB2-D113-3F926E86C333}"/>
              </a:ext>
            </a:extLst>
          </p:cNvPr>
          <p:cNvSpPr/>
          <p:nvPr/>
        </p:nvSpPr>
        <p:spPr>
          <a:xfrm>
            <a:off x="4017526" y="5078254"/>
            <a:ext cx="434018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Final: 78 studies included</a:t>
            </a:r>
            <a:endParaRPr lang="en-US" sz="15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3E690A0-2D78-F2F0-1F20-F5D65F0F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939" y="150558"/>
            <a:ext cx="5252933" cy="725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91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476E3-3DE0-B21D-0355-E144C0F82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0858D5E-8F09-00DE-8E3C-1A55DDAD8013}"/>
              </a:ext>
            </a:extLst>
          </p:cNvPr>
          <p:cNvSpPr/>
          <p:nvPr/>
        </p:nvSpPr>
        <p:spPr>
          <a:xfrm>
            <a:off x="793790" y="899398"/>
            <a:ext cx="638734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 Key Challenges Identified</a:t>
            </a:r>
            <a:endParaRPr lang="en-US" sz="39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6EC4641-E05A-9E4A-FB81-0FA2EB894650}"/>
              </a:ext>
            </a:extLst>
          </p:cNvPr>
          <p:cNvSpPr/>
          <p:nvPr/>
        </p:nvSpPr>
        <p:spPr>
          <a:xfrm>
            <a:off x="793790" y="191631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5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9370BA0-6259-B60B-F7FD-6928495B4616}"/>
              </a:ext>
            </a:extLst>
          </p:cNvPr>
          <p:cNvSpPr/>
          <p:nvPr/>
        </p:nvSpPr>
        <p:spPr>
          <a:xfrm>
            <a:off x="793790" y="2230636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40543EE-97D0-496A-ED88-3CB05CD3274A}"/>
              </a:ext>
            </a:extLst>
          </p:cNvPr>
          <p:cNvSpPr/>
          <p:nvPr/>
        </p:nvSpPr>
        <p:spPr>
          <a:xfrm>
            <a:off x="793790" y="2375535"/>
            <a:ext cx="37516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Quality Requirements Neglected</a:t>
            </a:r>
            <a:endParaRPr lang="en-US" sz="19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5DEE1C6-DD18-83D5-8CE1-94234A4FD2AE}"/>
              </a:ext>
            </a:extLst>
          </p:cNvPr>
          <p:cNvSpPr/>
          <p:nvPr/>
        </p:nvSpPr>
        <p:spPr>
          <a:xfrm>
            <a:off x="793790" y="280475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remains on functional requirements while non-functional requirements are ignored in early sprints</a:t>
            </a:r>
            <a:endParaRPr lang="en-US" sz="15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48D1B4B-16CE-BAFC-8739-C1411D60F814}"/>
              </a:ext>
            </a:extLst>
          </p:cNvPr>
          <p:cNvSpPr/>
          <p:nvPr/>
        </p:nvSpPr>
        <p:spPr>
          <a:xfrm>
            <a:off x="7414379" y="191631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062B64C7-929A-65A4-96F5-57253E92C004}"/>
              </a:ext>
            </a:extLst>
          </p:cNvPr>
          <p:cNvSpPr/>
          <p:nvPr/>
        </p:nvSpPr>
        <p:spPr>
          <a:xfrm>
            <a:off x="7414379" y="2230636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5002402-189F-F256-5F21-F32D85AF18D6}"/>
              </a:ext>
            </a:extLst>
          </p:cNvPr>
          <p:cNvSpPr/>
          <p:nvPr/>
        </p:nvSpPr>
        <p:spPr>
          <a:xfrm>
            <a:off x="7414379" y="2375535"/>
            <a:ext cx="27283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Minimal Documentation</a:t>
            </a:r>
            <a:endParaRPr lang="en-US" sz="19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254D48A-8A9B-457A-B02C-18191D7B1226}"/>
              </a:ext>
            </a:extLst>
          </p:cNvPr>
          <p:cNvSpPr/>
          <p:nvPr/>
        </p:nvSpPr>
        <p:spPr>
          <a:xfrm>
            <a:off x="7414379" y="280475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Agile's less documentation-oriented approach leads to incomplete or non-existing records</a:t>
            </a:r>
            <a:endParaRPr lang="en-US" sz="15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418F59D-2414-40C7-C50F-EA16B7717246}"/>
              </a:ext>
            </a:extLst>
          </p:cNvPr>
          <p:cNvSpPr/>
          <p:nvPr/>
        </p:nvSpPr>
        <p:spPr>
          <a:xfrm>
            <a:off x="793790" y="378702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F798EC0E-9559-3BFC-5FD4-E03DC15BEA64}"/>
              </a:ext>
            </a:extLst>
          </p:cNvPr>
          <p:cNvSpPr/>
          <p:nvPr/>
        </p:nvSpPr>
        <p:spPr>
          <a:xfrm>
            <a:off x="793790" y="4101346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0304E3D-8CA7-F521-3391-4496C88DAB68}"/>
              </a:ext>
            </a:extLst>
          </p:cNvPr>
          <p:cNvSpPr/>
          <p:nvPr/>
        </p:nvSpPr>
        <p:spPr>
          <a:xfrm>
            <a:off x="793790" y="4246245"/>
            <a:ext cx="30026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Inappropriate Prioritization</a:t>
            </a:r>
            <a:endParaRPr lang="en-US" sz="19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7C6F7A1-CAD5-3941-5868-4F2709850A04}"/>
              </a:ext>
            </a:extLst>
          </p:cNvPr>
          <p:cNvSpPr/>
          <p:nvPr/>
        </p:nvSpPr>
        <p:spPr>
          <a:xfrm>
            <a:off x="793790" y="467546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Difficulty in objective measurement and maintaining priority lists with large requirement sets</a:t>
            </a:r>
            <a:endParaRPr lang="en-US" sz="15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0DC242D-7EE4-2138-10B5-350FC4C83E5E}"/>
              </a:ext>
            </a:extLst>
          </p:cNvPr>
          <p:cNvSpPr/>
          <p:nvPr/>
        </p:nvSpPr>
        <p:spPr>
          <a:xfrm>
            <a:off x="7414379" y="378702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A6EB4187-583D-C7F5-6748-A7FF2CFC2BC3}"/>
              </a:ext>
            </a:extLst>
          </p:cNvPr>
          <p:cNvSpPr/>
          <p:nvPr/>
        </p:nvSpPr>
        <p:spPr>
          <a:xfrm>
            <a:off x="7414379" y="4101346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202AE94-AE23-281A-130C-66387938A9DA}"/>
              </a:ext>
            </a:extLst>
          </p:cNvPr>
          <p:cNvSpPr/>
          <p:nvPr/>
        </p:nvSpPr>
        <p:spPr>
          <a:xfrm>
            <a:off x="7414379" y="4246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Managing Change</a:t>
            </a:r>
            <a:endParaRPr lang="en-US" sz="19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C13035F-B76D-93C2-324B-871D4AE1F961}"/>
              </a:ext>
            </a:extLst>
          </p:cNvPr>
          <p:cNvSpPr/>
          <p:nvPr/>
        </p:nvSpPr>
        <p:spPr>
          <a:xfrm>
            <a:off x="7414379" y="467546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Rapidly changing requirements cause instability and impact project cost and schedule</a:t>
            </a:r>
            <a:endParaRPr lang="en-US" sz="155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0271497F-C207-627A-F39C-553D4D721B95}"/>
              </a:ext>
            </a:extLst>
          </p:cNvPr>
          <p:cNvSpPr/>
          <p:nvPr/>
        </p:nvSpPr>
        <p:spPr>
          <a:xfrm>
            <a:off x="793790" y="565773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04F58647-F56A-D1DB-63EF-A112702A2AA4}"/>
              </a:ext>
            </a:extLst>
          </p:cNvPr>
          <p:cNvSpPr/>
          <p:nvPr/>
        </p:nvSpPr>
        <p:spPr>
          <a:xfrm>
            <a:off x="793790" y="5972056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3313EB7-FCBB-AAE5-5C66-2A71D4F50D80}"/>
              </a:ext>
            </a:extLst>
          </p:cNvPr>
          <p:cNvSpPr/>
          <p:nvPr/>
        </p:nvSpPr>
        <p:spPr>
          <a:xfrm>
            <a:off x="793790" y="6116955"/>
            <a:ext cx="32936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Poorly Written Requirements</a:t>
            </a:r>
            <a:endParaRPr lang="en-US" sz="195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0A960A83-FE64-51D2-D932-F6665A5BEF87}"/>
              </a:ext>
            </a:extLst>
          </p:cNvPr>
          <p:cNvSpPr/>
          <p:nvPr/>
        </p:nvSpPr>
        <p:spPr>
          <a:xfrm>
            <a:off x="793790" y="654617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Requirements are often ambiguous, incomplete, inconsistent, and unfeasible</a:t>
            </a:r>
            <a:endParaRPr lang="en-US" sz="15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6EC7678C-6CB4-C8C1-99FB-4FDD22F5C3CC}"/>
              </a:ext>
            </a:extLst>
          </p:cNvPr>
          <p:cNvSpPr/>
          <p:nvPr/>
        </p:nvSpPr>
        <p:spPr>
          <a:xfrm>
            <a:off x="7414379" y="565773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9776AB3D-E510-C0D7-92A6-ECEE1EE99C74}"/>
              </a:ext>
            </a:extLst>
          </p:cNvPr>
          <p:cNvSpPr/>
          <p:nvPr/>
        </p:nvSpPr>
        <p:spPr>
          <a:xfrm>
            <a:off x="7414379" y="5972056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419F22E3-530A-FC0A-4022-661116631A4B}"/>
              </a:ext>
            </a:extLst>
          </p:cNvPr>
          <p:cNvSpPr/>
          <p:nvPr/>
        </p:nvSpPr>
        <p:spPr>
          <a:xfrm>
            <a:off x="7414379" y="6116955"/>
            <a:ext cx="315789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Inaccurate Effort Estimation</a:t>
            </a:r>
            <a:endParaRPr lang="en-US" sz="195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598F5A8C-70BD-0B65-9880-002591CAB149}"/>
              </a:ext>
            </a:extLst>
          </p:cNvPr>
          <p:cNvSpPr/>
          <p:nvPr/>
        </p:nvSpPr>
        <p:spPr>
          <a:xfrm>
            <a:off x="7414379" y="654617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Estimates change substantially due to requirement changes and lack of historical data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371902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65784-73F7-BA4C-124C-2456B6142A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9039F5E-BC95-E7E4-7A74-BA4A0899C0E4}"/>
              </a:ext>
            </a:extLst>
          </p:cNvPr>
          <p:cNvSpPr/>
          <p:nvPr/>
        </p:nvSpPr>
        <p:spPr>
          <a:xfrm>
            <a:off x="793790" y="1110258"/>
            <a:ext cx="67033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Critical Challenges</a:t>
            </a:r>
            <a:endParaRPr lang="en-US" sz="39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372C7A4-0703-AB60-F528-070A26A716A8}"/>
              </a:ext>
            </a:extLst>
          </p:cNvPr>
          <p:cNvSpPr/>
          <p:nvPr/>
        </p:nvSpPr>
        <p:spPr>
          <a:xfrm>
            <a:off x="793790" y="2424827"/>
            <a:ext cx="4215289" cy="2416731"/>
          </a:xfrm>
          <a:prstGeom prst="roundRect">
            <a:avLst>
              <a:gd name="adj" fmla="val 454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B4F47BC-3D3F-A944-5504-C30B41CF5785}"/>
              </a:ext>
            </a:extLst>
          </p:cNvPr>
          <p:cNvSpPr/>
          <p:nvPr/>
        </p:nvSpPr>
        <p:spPr>
          <a:xfrm>
            <a:off x="793790" y="2401967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EB879C8-5851-3815-A8C0-0A9DE34A9503}"/>
              </a:ext>
            </a:extLst>
          </p:cNvPr>
          <p:cNvSpPr/>
          <p:nvPr/>
        </p:nvSpPr>
        <p:spPr>
          <a:xfrm>
            <a:off x="2603778" y="212717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3D910A5-A587-F318-7AA8-11E81CB3A2C0}"/>
              </a:ext>
            </a:extLst>
          </p:cNvPr>
          <p:cNvSpPr/>
          <p:nvPr/>
        </p:nvSpPr>
        <p:spPr>
          <a:xfrm>
            <a:off x="2782372" y="227599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3F8A78C-EB1C-44B6-1CCB-6DD21DAE2CA5}"/>
              </a:ext>
            </a:extLst>
          </p:cNvPr>
          <p:cNvSpPr/>
          <p:nvPr/>
        </p:nvSpPr>
        <p:spPr>
          <a:xfrm>
            <a:off x="1015008" y="2920960"/>
            <a:ext cx="27122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Unavailability</a:t>
            </a:r>
            <a:endParaRPr lang="en-US" sz="19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706E236-8AEC-94AF-4B77-D0E963573C31}"/>
              </a:ext>
            </a:extLst>
          </p:cNvPr>
          <p:cNvSpPr/>
          <p:nvPr/>
        </p:nvSpPr>
        <p:spPr>
          <a:xfrm>
            <a:off x="1015008" y="3350181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customer involvement and interactions with development teams, particularly in offshore development scenarios</a:t>
            </a:r>
            <a:endParaRPr lang="en-US" sz="15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882441B-65F5-D0D7-9B57-841D20607C07}"/>
              </a:ext>
            </a:extLst>
          </p:cNvPr>
          <p:cNvSpPr/>
          <p:nvPr/>
        </p:nvSpPr>
        <p:spPr>
          <a:xfrm>
            <a:off x="5207437" y="2424827"/>
            <a:ext cx="4215408" cy="2416731"/>
          </a:xfrm>
          <a:prstGeom prst="roundRect">
            <a:avLst>
              <a:gd name="adj" fmla="val 454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AA48F30C-57F1-A6B2-82AE-507C225869EF}"/>
              </a:ext>
            </a:extLst>
          </p:cNvPr>
          <p:cNvSpPr/>
          <p:nvPr/>
        </p:nvSpPr>
        <p:spPr>
          <a:xfrm>
            <a:off x="5207437" y="2401967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96E1344-DC87-D919-C4D4-C3BD4197815D}"/>
              </a:ext>
            </a:extLst>
          </p:cNvPr>
          <p:cNvSpPr/>
          <p:nvPr/>
        </p:nvSpPr>
        <p:spPr>
          <a:xfrm>
            <a:off x="7017425" y="212717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579CDAF-3BCB-8685-518A-8300719D9C75}"/>
              </a:ext>
            </a:extLst>
          </p:cNvPr>
          <p:cNvSpPr/>
          <p:nvPr/>
        </p:nvSpPr>
        <p:spPr>
          <a:xfrm>
            <a:off x="7196018" y="227599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5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DDFFF28-4C08-4C00-5328-E6627EAD1AAC}"/>
              </a:ext>
            </a:extLst>
          </p:cNvPr>
          <p:cNvSpPr/>
          <p:nvPr/>
        </p:nvSpPr>
        <p:spPr>
          <a:xfrm>
            <a:off x="5428655" y="2920960"/>
            <a:ext cx="314753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Knowledge Gaps</a:t>
            </a:r>
            <a:endParaRPr lang="en-US" sz="19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78B93B88-BBE6-795E-BCC3-E700EBA8A40B}"/>
              </a:ext>
            </a:extLst>
          </p:cNvPr>
          <p:cNvSpPr/>
          <p:nvPr/>
        </p:nvSpPr>
        <p:spPr>
          <a:xfrm>
            <a:off x="5428655" y="3350181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lacking knowledge about agile approaches or insufficient domain expertise</a:t>
            </a:r>
            <a:endParaRPr lang="en-US" sz="155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B8964E4D-767D-743D-6F8D-E6F77446F176}"/>
              </a:ext>
            </a:extLst>
          </p:cNvPr>
          <p:cNvSpPr/>
          <p:nvPr/>
        </p:nvSpPr>
        <p:spPr>
          <a:xfrm>
            <a:off x="9621203" y="2424827"/>
            <a:ext cx="4215289" cy="2416731"/>
          </a:xfrm>
          <a:prstGeom prst="roundRect">
            <a:avLst>
              <a:gd name="adj" fmla="val 454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BC4B28CA-DB65-150F-9C0D-8DEA9733DB09}"/>
              </a:ext>
            </a:extLst>
          </p:cNvPr>
          <p:cNvSpPr/>
          <p:nvPr/>
        </p:nvSpPr>
        <p:spPr>
          <a:xfrm>
            <a:off x="9621203" y="2401967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1E3447A-5A53-C019-38A7-7577322D7B17}"/>
              </a:ext>
            </a:extLst>
          </p:cNvPr>
          <p:cNvSpPr/>
          <p:nvPr/>
        </p:nvSpPr>
        <p:spPr>
          <a:xfrm>
            <a:off x="11431191" y="212717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5172580-5BE9-971F-FE2A-4425942210F6}"/>
              </a:ext>
            </a:extLst>
          </p:cNvPr>
          <p:cNvSpPr/>
          <p:nvPr/>
        </p:nvSpPr>
        <p:spPr>
          <a:xfrm>
            <a:off x="11609784" y="227599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5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FEC044C8-279A-E93E-509D-0DBFC7857406}"/>
              </a:ext>
            </a:extLst>
          </p:cNvPr>
          <p:cNvSpPr/>
          <p:nvPr/>
        </p:nvSpPr>
        <p:spPr>
          <a:xfrm>
            <a:off x="9842421" y="2920960"/>
            <a:ext cx="29954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Inappropriate Architecture</a:t>
            </a:r>
            <a:endParaRPr lang="en-US" sz="195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CDC7C4A-515F-296C-11F5-2C09E12986B5}"/>
              </a:ext>
            </a:extLst>
          </p:cNvPr>
          <p:cNvSpPr/>
          <p:nvPr/>
        </p:nvSpPr>
        <p:spPr>
          <a:xfrm>
            <a:off x="9842421" y="3350181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architecture decisions become redundant when new requirements arise</a:t>
            </a:r>
            <a:endParaRPr lang="en-US" sz="155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9A5A96BF-A045-5CA9-6339-AF471DDFDB50}"/>
              </a:ext>
            </a:extLst>
          </p:cNvPr>
          <p:cNvSpPr/>
          <p:nvPr/>
        </p:nvSpPr>
        <p:spPr>
          <a:xfrm>
            <a:off x="793790" y="5337572"/>
            <a:ext cx="6422112" cy="1781651"/>
          </a:xfrm>
          <a:prstGeom prst="roundRect">
            <a:avLst>
              <a:gd name="adj" fmla="val 615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9F277332-D7DC-2E1B-3061-2BE2AFA23C6C}"/>
              </a:ext>
            </a:extLst>
          </p:cNvPr>
          <p:cNvSpPr/>
          <p:nvPr/>
        </p:nvSpPr>
        <p:spPr>
          <a:xfrm>
            <a:off x="793790" y="5314712"/>
            <a:ext cx="6422112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3A539E87-E3BA-DEFF-DB19-D2078F6D8620}"/>
              </a:ext>
            </a:extLst>
          </p:cNvPr>
          <p:cNvSpPr/>
          <p:nvPr/>
        </p:nvSpPr>
        <p:spPr>
          <a:xfrm>
            <a:off x="3707130" y="503991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AC2422C-F38A-153C-D553-4A0AEF453C8F}"/>
              </a:ext>
            </a:extLst>
          </p:cNvPr>
          <p:cNvSpPr/>
          <p:nvPr/>
        </p:nvSpPr>
        <p:spPr>
          <a:xfrm>
            <a:off x="3885724" y="518874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5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B3C6BA49-DC27-18B6-0595-A10506742ADB}"/>
              </a:ext>
            </a:extLst>
          </p:cNvPr>
          <p:cNvSpPr/>
          <p:nvPr/>
        </p:nvSpPr>
        <p:spPr>
          <a:xfrm>
            <a:off x="1015008" y="5833705"/>
            <a:ext cx="28915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Communication Methods</a:t>
            </a:r>
            <a:endParaRPr lang="en-US" sz="195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EAD0A2C9-0916-13D3-99C9-FAF476CE9434}"/>
              </a:ext>
            </a:extLst>
          </p:cNvPr>
          <p:cNvSpPr/>
          <p:nvPr/>
        </p:nvSpPr>
        <p:spPr>
          <a:xfrm>
            <a:off x="1015008" y="6262926"/>
            <a:ext cx="597967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Difficulty communicating efficiently with stakeholders using appropriate tools</a:t>
            </a:r>
            <a:endParaRPr lang="en-US" sz="1550" dirty="0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D06F250F-12B2-C765-54BE-4277A5C78D90}"/>
              </a:ext>
            </a:extLst>
          </p:cNvPr>
          <p:cNvSpPr/>
          <p:nvPr/>
        </p:nvSpPr>
        <p:spPr>
          <a:xfrm>
            <a:off x="7414260" y="5337572"/>
            <a:ext cx="6422231" cy="1781651"/>
          </a:xfrm>
          <a:prstGeom prst="roundRect">
            <a:avLst>
              <a:gd name="adj" fmla="val 615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8B0B308A-CE06-148D-7C8E-167B5DDE3619}"/>
              </a:ext>
            </a:extLst>
          </p:cNvPr>
          <p:cNvSpPr/>
          <p:nvPr/>
        </p:nvSpPr>
        <p:spPr>
          <a:xfrm>
            <a:off x="7414260" y="5314712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8A2439F9-33AA-DF76-859E-89495AA3A01B}"/>
              </a:ext>
            </a:extLst>
          </p:cNvPr>
          <p:cNvSpPr/>
          <p:nvPr/>
        </p:nvSpPr>
        <p:spPr>
          <a:xfrm>
            <a:off x="10327719" y="503991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802E68ED-648F-50D9-6D60-63651DAF1E55}"/>
              </a:ext>
            </a:extLst>
          </p:cNvPr>
          <p:cNvSpPr/>
          <p:nvPr/>
        </p:nvSpPr>
        <p:spPr>
          <a:xfrm>
            <a:off x="10506313" y="518874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85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183CF6DF-85A7-1DE2-44F4-88AD584C4B0E}"/>
              </a:ext>
            </a:extLst>
          </p:cNvPr>
          <p:cNvSpPr/>
          <p:nvPr/>
        </p:nvSpPr>
        <p:spPr>
          <a:xfrm>
            <a:off x="7635478" y="5833705"/>
            <a:ext cx="29756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Maintaining Specifications</a:t>
            </a:r>
            <a:endParaRPr lang="en-US" sz="195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7A7BA3DC-7A2E-2B88-CF0F-07EC98E219E9}"/>
              </a:ext>
            </a:extLst>
          </p:cNvPr>
          <p:cNvSpPr/>
          <p:nvPr/>
        </p:nvSpPr>
        <p:spPr>
          <a:xfrm>
            <a:off x="7635478" y="626292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Overloaded teams struggle to maintain software requirements specifications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77426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A8865-1661-FB30-B386-68B63102EF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DEC9D71-B206-B7EA-75EF-8741CEED93BA}"/>
              </a:ext>
            </a:extLst>
          </p:cNvPr>
          <p:cNvSpPr/>
          <p:nvPr/>
        </p:nvSpPr>
        <p:spPr>
          <a:xfrm>
            <a:off x="1950482" y="409218"/>
            <a:ext cx="5250418" cy="463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 Prevalence Analysis</a:t>
            </a:r>
            <a:endParaRPr lang="en-US" sz="29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AA8CE2E-AAB6-98CF-BA3D-8E5B24CC481C}"/>
              </a:ext>
            </a:extLst>
          </p:cNvPr>
          <p:cNvSpPr/>
          <p:nvPr/>
        </p:nvSpPr>
        <p:spPr>
          <a:xfrm>
            <a:off x="1950482" y="7345204"/>
            <a:ext cx="10729436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prevalent challenges show that quality requirements and documentation issues dominate agile requirements engineering concerns, appearing in 30 and 25 papers respectively.</a:t>
            </a:r>
            <a:endParaRPr lang="en-US" sz="11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1CFC59-0FB7-8CDD-B360-47B13CEE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889" y="852671"/>
            <a:ext cx="10852029" cy="649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92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26FF6-DADB-33BC-D2AD-9E4EC232C4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3875068" y="7608697"/>
            <a:ext cx="585120" cy="43872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CFCC88C-EBB6-BC87-D5A2-E46D465A62A8}"/>
              </a:ext>
            </a:extLst>
          </p:cNvPr>
          <p:cNvSpPr/>
          <p:nvPr/>
        </p:nvSpPr>
        <p:spPr>
          <a:xfrm>
            <a:off x="755213" y="412845"/>
            <a:ext cx="5199102" cy="56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Nine Solution Categories</a:t>
            </a:r>
            <a:endParaRPr lang="en-US" sz="355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8CD81537-9DD4-CC05-27AA-A965DE0C6513}"/>
              </a:ext>
            </a:extLst>
          </p:cNvPr>
          <p:cNvSpPr/>
          <p:nvPr/>
        </p:nvSpPr>
        <p:spPr>
          <a:xfrm>
            <a:off x="755213" y="1342842"/>
            <a:ext cx="6469142" cy="2077045"/>
          </a:xfrm>
          <a:prstGeom prst="roundRect">
            <a:avLst>
              <a:gd name="adj" fmla="val 3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B014C61-9D52-8A66-68E8-B144A86B6E89}"/>
              </a:ext>
            </a:extLst>
          </p:cNvPr>
          <p:cNvSpPr/>
          <p:nvPr/>
        </p:nvSpPr>
        <p:spPr>
          <a:xfrm>
            <a:off x="944285" y="1531913"/>
            <a:ext cx="544473" cy="544473"/>
          </a:xfrm>
          <a:prstGeom prst="roundRect">
            <a:avLst>
              <a:gd name="adj" fmla="val 16792542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74EF34B-935A-D701-1AA7-8356575C2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065" y="1681575"/>
            <a:ext cx="244912" cy="244912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C7AAFDFA-D245-1E7A-2B88-C05CF0B9EBBC}"/>
              </a:ext>
            </a:extLst>
          </p:cNvPr>
          <p:cNvSpPr/>
          <p:nvPr/>
        </p:nvSpPr>
        <p:spPr>
          <a:xfrm>
            <a:off x="944285" y="2257838"/>
            <a:ext cx="346460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Requirement Information</a:t>
            </a:r>
            <a:endParaRPr lang="en-US" sz="17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3B01774-A075-184D-0015-55396373B524}"/>
              </a:ext>
            </a:extLst>
          </p:cNvPr>
          <p:cNvSpPr/>
          <p:nvPr/>
        </p:nvSpPr>
        <p:spPr>
          <a:xfrm>
            <a:off x="944285" y="2650268"/>
            <a:ext cx="6090999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cases, user stories, acceptance criteria, and domain expert involvement</a:t>
            </a:r>
            <a:endParaRPr lang="en-US" sz="14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AB6AAD72-7244-4938-B0DB-85BE5787ECE9}"/>
              </a:ext>
            </a:extLst>
          </p:cNvPr>
          <p:cNvSpPr/>
          <p:nvPr/>
        </p:nvSpPr>
        <p:spPr>
          <a:xfrm>
            <a:off x="7405807" y="1342842"/>
            <a:ext cx="6469261" cy="2077045"/>
          </a:xfrm>
          <a:prstGeom prst="roundRect">
            <a:avLst>
              <a:gd name="adj" fmla="val 3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AA56C61-1C03-B908-4E90-97AA03EF0CB1}"/>
              </a:ext>
            </a:extLst>
          </p:cNvPr>
          <p:cNvSpPr/>
          <p:nvPr/>
        </p:nvSpPr>
        <p:spPr>
          <a:xfrm>
            <a:off x="7594878" y="1531913"/>
            <a:ext cx="544473" cy="544473"/>
          </a:xfrm>
          <a:prstGeom prst="roundRect">
            <a:avLst>
              <a:gd name="adj" fmla="val 16792542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4D8079FB-5C37-748F-55EA-1C7E4C611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4658" y="1681575"/>
            <a:ext cx="244912" cy="244912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8BEEB50F-6ECB-30EB-D4FE-800E0FB55CC7}"/>
              </a:ext>
            </a:extLst>
          </p:cNvPr>
          <p:cNvSpPr/>
          <p:nvPr/>
        </p:nvSpPr>
        <p:spPr>
          <a:xfrm>
            <a:off x="7594878" y="2257838"/>
            <a:ext cx="3167539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Quality Requirements</a:t>
            </a:r>
            <a:endParaRPr lang="en-US" sz="17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F78E93F-0BF5-9FDD-DE27-53E47CB2A359}"/>
              </a:ext>
            </a:extLst>
          </p:cNvPr>
          <p:cNvSpPr/>
          <p:nvPr/>
        </p:nvSpPr>
        <p:spPr>
          <a:xfrm>
            <a:off x="7594878" y="2650268"/>
            <a:ext cx="609111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QR backlogs, specialist teams, and lightweight tools like NORMATIC</a:t>
            </a:r>
            <a:endParaRPr lang="en-US" sz="14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5230CAC-A144-0907-189E-02B797C043D4}"/>
              </a:ext>
            </a:extLst>
          </p:cNvPr>
          <p:cNvSpPr/>
          <p:nvPr/>
        </p:nvSpPr>
        <p:spPr>
          <a:xfrm>
            <a:off x="755213" y="3601339"/>
            <a:ext cx="6469142" cy="2077045"/>
          </a:xfrm>
          <a:prstGeom prst="roundRect">
            <a:avLst>
              <a:gd name="adj" fmla="val 3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B0252C0F-90E0-51EA-0553-BF95483D449B}"/>
              </a:ext>
            </a:extLst>
          </p:cNvPr>
          <p:cNvSpPr/>
          <p:nvPr/>
        </p:nvSpPr>
        <p:spPr>
          <a:xfrm>
            <a:off x="944285" y="3790410"/>
            <a:ext cx="544473" cy="544473"/>
          </a:xfrm>
          <a:prstGeom prst="roundRect">
            <a:avLst>
              <a:gd name="adj" fmla="val 16792542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8820A841-97E9-E37A-94BD-23FFECB468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4065" y="3940072"/>
            <a:ext cx="244912" cy="244912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B8494467-213E-BE4B-7A80-818C88981772}"/>
              </a:ext>
            </a:extLst>
          </p:cNvPr>
          <p:cNvSpPr/>
          <p:nvPr/>
        </p:nvSpPr>
        <p:spPr>
          <a:xfrm>
            <a:off x="944285" y="4516334"/>
            <a:ext cx="2268736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Share Knowledge</a:t>
            </a:r>
            <a:endParaRPr lang="en-US" sz="175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544D12DD-7B20-DEDF-2DA0-97EA915D9B9B}"/>
              </a:ext>
            </a:extLst>
          </p:cNvPr>
          <p:cNvSpPr/>
          <p:nvPr/>
        </p:nvSpPr>
        <p:spPr>
          <a:xfrm>
            <a:off x="944285" y="4908764"/>
            <a:ext cx="609099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Face-to-face interactions, communications hubs, and surrogate customers</a:t>
            </a:r>
            <a:endParaRPr lang="en-US" sz="14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229F5505-09F3-A114-A57A-940F20181531}"/>
              </a:ext>
            </a:extLst>
          </p:cNvPr>
          <p:cNvSpPr/>
          <p:nvPr/>
        </p:nvSpPr>
        <p:spPr>
          <a:xfrm>
            <a:off x="7405807" y="3601339"/>
            <a:ext cx="6469261" cy="2077045"/>
          </a:xfrm>
          <a:prstGeom prst="roundRect">
            <a:avLst>
              <a:gd name="adj" fmla="val 3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A0CAEBFC-DECB-669F-DEBA-09B1D12B8072}"/>
              </a:ext>
            </a:extLst>
          </p:cNvPr>
          <p:cNvSpPr/>
          <p:nvPr/>
        </p:nvSpPr>
        <p:spPr>
          <a:xfrm>
            <a:off x="7594878" y="3790410"/>
            <a:ext cx="544473" cy="544473"/>
          </a:xfrm>
          <a:prstGeom prst="roundRect">
            <a:avLst>
              <a:gd name="adj" fmla="val 16792542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3B9B5F58-0302-C75F-12C9-6981096E11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4658" y="3940072"/>
            <a:ext cx="244912" cy="244912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70945FB5-7EFD-DB74-8081-4B1F792B0F0A}"/>
              </a:ext>
            </a:extLst>
          </p:cNvPr>
          <p:cNvSpPr/>
          <p:nvPr/>
        </p:nvSpPr>
        <p:spPr>
          <a:xfrm>
            <a:off x="7594878" y="4516334"/>
            <a:ext cx="2650808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Product Backlog</a:t>
            </a:r>
            <a:endParaRPr lang="en-US" sz="175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CBCB279B-CCA9-659D-7705-54B971A14EA6}"/>
              </a:ext>
            </a:extLst>
          </p:cNvPr>
          <p:cNvSpPr/>
          <p:nvPr/>
        </p:nvSpPr>
        <p:spPr>
          <a:xfrm>
            <a:off x="7594878" y="4908764"/>
            <a:ext cx="609111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backlogs covering different viewpoints and continuous reprioritization</a:t>
            </a:r>
            <a:endParaRPr lang="en-US" sz="140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6CCB0D71-D5C2-89DB-1F30-8C62B4F486E5}"/>
              </a:ext>
            </a:extLst>
          </p:cNvPr>
          <p:cNvSpPr/>
          <p:nvPr/>
        </p:nvSpPr>
        <p:spPr>
          <a:xfrm>
            <a:off x="755213" y="5859835"/>
            <a:ext cx="6469142" cy="1786771"/>
          </a:xfrm>
          <a:prstGeom prst="roundRect">
            <a:avLst>
              <a:gd name="adj" fmla="val 426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F5793FFC-BEA1-F8CC-6367-7E38F3815F2D}"/>
              </a:ext>
            </a:extLst>
          </p:cNvPr>
          <p:cNvSpPr/>
          <p:nvPr/>
        </p:nvSpPr>
        <p:spPr>
          <a:xfrm>
            <a:off x="944285" y="6048907"/>
            <a:ext cx="544473" cy="544473"/>
          </a:xfrm>
          <a:prstGeom prst="roundRect">
            <a:avLst>
              <a:gd name="adj" fmla="val 16792542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59517AEB-BD56-40C7-6704-5E83E6D023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4065" y="6198568"/>
            <a:ext cx="244912" cy="244912"/>
          </a:xfrm>
          <a:prstGeom prst="rect">
            <a:avLst/>
          </a:prstGeom>
        </p:spPr>
      </p:pic>
      <p:sp>
        <p:nvSpPr>
          <p:cNvPr id="29" name="Text 19">
            <a:extLst>
              <a:ext uri="{FF2B5EF4-FFF2-40B4-BE49-F238E27FC236}">
                <a16:creationId xmlns:a16="http://schemas.microsoft.com/office/drawing/2014/main" id="{A74FEC5F-E80E-117D-F21B-317CA1953857}"/>
              </a:ext>
            </a:extLst>
          </p:cNvPr>
          <p:cNvSpPr/>
          <p:nvPr/>
        </p:nvSpPr>
        <p:spPr>
          <a:xfrm>
            <a:off x="944285" y="6774831"/>
            <a:ext cx="2268736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 Estimation</a:t>
            </a:r>
            <a:endParaRPr lang="en-US" sz="175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DEFA1C37-F4A2-7D40-F47D-8334D486703C}"/>
              </a:ext>
            </a:extLst>
          </p:cNvPr>
          <p:cNvSpPr/>
          <p:nvPr/>
        </p:nvSpPr>
        <p:spPr>
          <a:xfrm>
            <a:off x="944285" y="7167261"/>
            <a:ext cx="609099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Elicit rationales, regular estimation time, and data-driven techniques</a:t>
            </a:r>
            <a:endParaRPr lang="en-US" sz="1400" dirty="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AF82EC56-0551-241B-4BEB-1025D325952F}"/>
              </a:ext>
            </a:extLst>
          </p:cNvPr>
          <p:cNvSpPr/>
          <p:nvPr/>
        </p:nvSpPr>
        <p:spPr>
          <a:xfrm>
            <a:off x="7405807" y="5859835"/>
            <a:ext cx="6469261" cy="1786771"/>
          </a:xfrm>
          <a:prstGeom prst="roundRect">
            <a:avLst>
              <a:gd name="adj" fmla="val 426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8B85B115-E9AF-D36D-C1EA-5BEB85F79D71}"/>
              </a:ext>
            </a:extLst>
          </p:cNvPr>
          <p:cNvSpPr/>
          <p:nvPr/>
        </p:nvSpPr>
        <p:spPr>
          <a:xfrm>
            <a:off x="7594878" y="6048907"/>
            <a:ext cx="544473" cy="544473"/>
          </a:xfrm>
          <a:prstGeom prst="roundRect">
            <a:avLst>
              <a:gd name="adj" fmla="val 16792542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5" descr="preencoded.png">
            <a:extLst>
              <a:ext uri="{FF2B5EF4-FFF2-40B4-BE49-F238E27FC236}">
                <a16:creationId xmlns:a16="http://schemas.microsoft.com/office/drawing/2014/main" id="{C2CC3CB1-E12A-F352-C470-E1BC4FD1B2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44658" y="6198568"/>
            <a:ext cx="244912" cy="244912"/>
          </a:xfrm>
          <a:prstGeom prst="rect">
            <a:avLst/>
          </a:prstGeom>
        </p:spPr>
      </p:pic>
      <p:sp>
        <p:nvSpPr>
          <p:cNvPr id="34" name="Text 23">
            <a:extLst>
              <a:ext uri="{FF2B5EF4-FFF2-40B4-BE49-F238E27FC236}">
                <a16:creationId xmlns:a16="http://schemas.microsoft.com/office/drawing/2014/main" id="{66F2DE79-AEFC-F8B7-0B20-597E658855AD}"/>
              </a:ext>
            </a:extLst>
          </p:cNvPr>
          <p:cNvSpPr/>
          <p:nvPr/>
        </p:nvSpPr>
        <p:spPr>
          <a:xfrm>
            <a:off x="7594878" y="6774831"/>
            <a:ext cx="2268736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Maintain Traceability</a:t>
            </a:r>
            <a:endParaRPr lang="en-US" sz="175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764C81DC-4F98-6D2C-62A8-221D4FC38B34}"/>
              </a:ext>
            </a:extLst>
          </p:cNvPr>
          <p:cNvSpPr/>
          <p:nvPr/>
        </p:nvSpPr>
        <p:spPr>
          <a:xfrm>
            <a:off x="7594878" y="7167261"/>
            <a:ext cx="60911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to trace requirements and tools like JIRA for management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71964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8DA29-8D45-80B1-E439-64C1C88490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2F13384-CD09-989A-3B0C-9149632E7AB3}"/>
              </a:ext>
            </a:extLst>
          </p:cNvPr>
          <p:cNvSpPr/>
          <p:nvPr/>
        </p:nvSpPr>
        <p:spPr>
          <a:xfrm>
            <a:off x="2049066" y="407313"/>
            <a:ext cx="4950381" cy="45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Solution Strategies</a:t>
            </a:r>
            <a:endParaRPr lang="en-US" sz="285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694F683-4779-1ED2-31DE-36473350B9C1}"/>
              </a:ext>
            </a:extLst>
          </p:cNvPr>
          <p:cNvSpPr/>
          <p:nvPr/>
        </p:nvSpPr>
        <p:spPr>
          <a:xfrm>
            <a:off x="2049066" y="1244798"/>
            <a:ext cx="5088493" cy="1161217"/>
          </a:xfrm>
          <a:prstGeom prst="roundRect">
            <a:avLst>
              <a:gd name="adj" fmla="val 5270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B77DCDB-8C7C-BCE3-F447-0EB4FFC96839}"/>
              </a:ext>
            </a:extLst>
          </p:cNvPr>
          <p:cNvSpPr/>
          <p:nvPr/>
        </p:nvSpPr>
        <p:spPr>
          <a:xfrm>
            <a:off x="2209919" y="1405652"/>
            <a:ext cx="2002750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Minimal Documentation</a:t>
            </a:r>
            <a:endParaRPr lang="en-US" sz="1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D2A12CD-5548-1C7E-110D-B9AA91A0026A}"/>
              </a:ext>
            </a:extLst>
          </p:cNvPr>
          <p:cNvSpPr/>
          <p:nvPr/>
        </p:nvSpPr>
        <p:spPr>
          <a:xfrm>
            <a:off x="2209919" y="1778913"/>
            <a:ext cx="4766786" cy="46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Consolidated software requirements specifications instead of various artifacts. Document architectural features and rationale.</a:t>
            </a:r>
            <a:endParaRPr lang="en-US" sz="11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C85C6498-C3EC-09ED-82D8-811D487EF5CC}"/>
              </a:ext>
            </a:extLst>
          </p:cNvPr>
          <p:cNvSpPr/>
          <p:nvPr/>
        </p:nvSpPr>
        <p:spPr>
          <a:xfrm>
            <a:off x="2049066" y="2551628"/>
            <a:ext cx="5088493" cy="1161217"/>
          </a:xfrm>
          <a:prstGeom prst="roundRect">
            <a:avLst>
              <a:gd name="adj" fmla="val 5270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6602457-2E40-C4C9-D1C2-1FE72B729F83}"/>
              </a:ext>
            </a:extLst>
          </p:cNvPr>
          <p:cNvSpPr/>
          <p:nvPr/>
        </p:nvSpPr>
        <p:spPr>
          <a:xfrm>
            <a:off x="2209919" y="2712482"/>
            <a:ext cx="2258139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Requirements Prioritization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29D4C2F-24D1-8ABE-78C8-24FF004DBE38}"/>
              </a:ext>
            </a:extLst>
          </p:cNvPr>
          <p:cNvSpPr/>
          <p:nvPr/>
        </p:nvSpPr>
        <p:spPr>
          <a:xfrm>
            <a:off x="2209919" y="3085743"/>
            <a:ext cx="4766786" cy="46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 stakeholder satisfaction, implementation risk, and available resources in prioritization decisions.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ADEF9E55-97AA-3FB8-F5A4-A89B15959D24}"/>
              </a:ext>
            </a:extLst>
          </p:cNvPr>
          <p:cNvSpPr/>
          <p:nvPr/>
        </p:nvSpPr>
        <p:spPr>
          <a:xfrm>
            <a:off x="7500461" y="1244798"/>
            <a:ext cx="5088493" cy="1161217"/>
          </a:xfrm>
          <a:prstGeom prst="roundRect">
            <a:avLst>
              <a:gd name="adj" fmla="val 5270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9880FEE-32EC-9DB2-B21B-3044742C8040}"/>
              </a:ext>
            </a:extLst>
          </p:cNvPr>
          <p:cNvSpPr/>
          <p:nvPr/>
        </p:nvSpPr>
        <p:spPr>
          <a:xfrm>
            <a:off x="7661315" y="1405652"/>
            <a:ext cx="1821299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Vision</a:t>
            </a:r>
            <a:endParaRPr lang="en-US" sz="1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53F61B1-3D1E-78E4-CF32-10C055988C05}"/>
              </a:ext>
            </a:extLst>
          </p:cNvPr>
          <p:cNvSpPr/>
          <p:nvPr/>
        </p:nvSpPr>
        <p:spPr>
          <a:xfrm>
            <a:off x="7661315" y="1778913"/>
            <a:ext cx="4766786" cy="46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common product vision between customers and development teams to reduce change requests.</a:t>
            </a:r>
            <a:endParaRPr lang="en-US" sz="11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060EF11-70F0-2A61-19D3-BBB23F780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461" y="2569845"/>
            <a:ext cx="5088493" cy="508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59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BB62D-D83C-9B35-6040-9763D728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0554D-B0A8-2DED-6893-110AB45CB7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107F2FFF-4136-FD77-7CA8-F035A4D47445}"/>
              </a:ext>
            </a:extLst>
          </p:cNvPr>
          <p:cNvSpPr/>
          <p:nvPr/>
        </p:nvSpPr>
        <p:spPr>
          <a:xfrm>
            <a:off x="1950482" y="409218"/>
            <a:ext cx="5250418" cy="463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 Prevalence Analysis</a:t>
            </a:r>
            <a:endParaRPr lang="en-US" sz="2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7610DD-009D-5A51-043D-68BE04F8B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481" y="843252"/>
            <a:ext cx="10506061" cy="64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75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321FF-DCE7-8EB1-8F7A-BE0EAC9E97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A81B3E1-B071-96EA-4D3F-BC83C3A4350B}"/>
              </a:ext>
            </a:extLst>
          </p:cNvPr>
          <p:cNvSpPr/>
          <p:nvPr/>
        </p:nvSpPr>
        <p:spPr>
          <a:xfrm>
            <a:off x="6280190" y="1035248"/>
            <a:ext cx="708243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Three-Dimensional Framework</a:t>
            </a:r>
            <a:endParaRPr lang="en-US" sz="39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9DB5767-8744-794C-3BC8-F225599AF43C}"/>
              </a:ext>
            </a:extLst>
          </p:cNvPr>
          <p:cNvSpPr/>
          <p:nvPr/>
        </p:nvSpPr>
        <p:spPr>
          <a:xfrm>
            <a:off x="6280190" y="195298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Challenges and solutions are classified into three interconnected dimensions that reveal the root causes and appropriate intervention strategies.</a:t>
            </a:r>
            <a:endParaRPr lang="en-US" sz="15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05939F71-BA79-83D5-ED5D-1703C4DF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811304"/>
            <a:ext cx="992267" cy="1461016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FA22DBF-BF18-0DAB-9722-FBAE7DFCC46B}"/>
              </a:ext>
            </a:extLst>
          </p:cNvPr>
          <p:cNvSpPr/>
          <p:nvPr/>
        </p:nvSpPr>
        <p:spPr>
          <a:xfrm>
            <a:off x="7470815" y="3009662"/>
            <a:ext cx="37638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Organizational/Business Context</a:t>
            </a:r>
            <a:endParaRPr lang="en-US" sz="195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C42DB96-D584-27C4-412B-9FD37542E2DE}"/>
              </a:ext>
            </a:extLst>
          </p:cNvPr>
          <p:cNvSpPr/>
          <p:nvPr/>
        </p:nvSpPr>
        <p:spPr>
          <a:xfrm>
            <a:off x="7470815" y="3438882"/>
            <a:ext cx="63657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organizational settings, dynamic business changes, motivation, communication, and coordination challenges</a:t>
            </a:r>
            <a:endParaRPr lang="en-US" sz="15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FBC9A3F1-F778-2658-2157-69A354EFA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272320"/>
            <a:ext cx="992267" cy="1461016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04EE0D70-0205-161B-25F8-249323F7B6E2}"/>
              </a:ext>
            </a:extLst>
          </p:cNvPr>
          <p:cNvSpPr/>
          <p:nvPr/>
        </p:nvSpPr>
        <p:spPr>
          <a:xfrm>
            <a:off x="7470815" y="44706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Management</a:t>
            </a:r>
            <a:endParaRPr lang="en-US" sz="19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DAE3E09-E01C-0E7D-22D6-D018D4AC733F}"/>
              </a:ext>
            </a:extLst>
          </p:cNvPr>
          <p:cNvSpPr/>
          <p:nvPr/>
        </p:nvSpPr>
        <p:spPr>
          <a:xfrm>
            <a:off x="7470815" y="4899898"/>
            <a:ext cx="63657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Execution, scheduling, cost estimation, team development, and quality management processes</a:t>
            </a:r>
            <a:endParaRPr lang="en-US" sz="155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D65D7DEB-5030-27B6-B010-CC9D1942F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733336"/>
            <a:ext cx="992267" cy="1461016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12EF01E9-7064-219A-357B-33C51C8E3244}"/>
              </a:ext>
            </a:extLst>
          </p:cNvPr>
          <p:cNvSpPr/>
          <p:nvPr/>
        </p:nvSpPr>
        <p:spPr>
          <a:xfrm>
            <a:off x="7470815" y="59316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Agile Methodology</a:t>
            </a:r>
            <a:endParaRPr lang="en-US" sz="195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BA577C9-E0A4-55A6-0B1A-35F526DB5A1C}"/>
              </a:ext>
            </a:extLst>
          </p:cNvPr>
          <p:cNvSpPr/>
          <p:nvPr/>
        </p:nvSpPr>
        <p:spPr>
          <a:xfrm>
            <a:off x="7470815" y="6360914"/>
            <a:ext cx="63657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 practices, requirement specification techniques, and agile-specific processes</a:t>
            </a:r>
            <a:endParaRPr lang="en-US" sz="1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F5023EC-471E-C164-289F-16472AC37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93" y="52479"/>
            <a:ext cx="4012480" cy="40225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88326A0-2147-47E9-C0A3-3E1CD1F06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791" y="4030945"/>
            <a:ext cx="4233482" cy="411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72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B4C83-874B-7BC9-0B26-2D362335E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1CF5830-7558-D8B9-5EE4-45C210545F29}"/>
              </a:ext>
            </a:extLst>
          </p:cNvPr>
          <p:cNvSpPr/>
          <p:nvPr/>
        </p:nvSpPr>
        <p:spPr>
          <a:xfrm>
            <a:off x="793790" y="1250990"/>
            <a:ext cx="658820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Challenge-Solution Mapping</a:t>
            </a:r>
            <a:endParaRPr lang="en-US" sz="39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9DF3793-F001-F556-2F37-9854231A9B2C}"/>
              </a:ext>
            </a:extLst>
          </p:cNvPr>
          <p:cNvSpPr/>
          <p:nvPr/>
        </p:nvSpPr>
        <p:spPr>
          <a:xfrm>
            <a:off x="793790" y="236708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</a:t>
            </a:r>
            <a:endParaRPr lang="en-US" sz="23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D9442AE-A272-311B-AAC2-B36BF81D6E3F}"/>
              </a:ext>
            </a:extLst>
          </p:cNvPr>
          <p:cNvSpPr/>
          <p:nvPr/>
        </p:nvSpPr>
        <p:spPr>
          <a:xfrm>
            <a:off x="793790" y="293751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 reveals a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mismatch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where challenges originate and where solutions are focused.</a:t>
            </a:r>
            <a:endParaRPr lang="en-US" sz="15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6EFB1E9-1215-27BF-B88F-788260439CE0}"/>
              </a:ext>
            </a:extLst>
          </p:cNvPr>
          <p:cNvSpPr/>
          <p:nvPr/>
        </p:nvSpPr>
        <p:spPr>
          <a:xfrm>
            <a:off x="793790" y="3751183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challenges are rooted in organizational and project management dimensions, yet the majority of solutions target agile methodology improvements.</a:t>
            </a:r>
            <a:endParaRPr lang="en-US" sz="155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A8F74CD-A4FB-F3BF-B922-2A9E11215122}"/>
              </a:ext>
            </a:extLst>
          </p:cNvPr>
          <p:cNvSpPr/>
          <p:nvPr/>
        </p:nvSpPr>
        <p:spPr>
          <a:xfrm>
            <a:off x="793790" y="4927044"/>
            <a:ext cx="6279356" cy="1478280"/>
          </a:xfrm>
          <a:prstGeom prst="roundRect">
            <a:avLst>
              <a:gd name="adj" fmla="val 5639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E2C583C-0204-EECF-B1C5-3DADB91B6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48" y="5222319"/>
            <a:ext cx="248007" cy="19835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E4FA745C-F84E-725D-4975-B9C22842E504}"/>
              </a:ext>
            </a:extLst>
          </p:cNvPr>
          <p:cNvSpPr/>
          <p:nvPr/>
        </p:nvSpPr>
        <p:spPr>
          <a:xfrm>
            <a:off x="1438513" y="5174932"/>
            <a:ext cx="5436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Gap:</a:t>
            </a: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Organizational and business context challenges receive insufficient attention in solution development despite being major sources of problems.</a:t>
            </a:r>
            <a:endParaRPr lang="en-US" sz="15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810F8DC-30D8-0EA9-06E1-A5683352DC22}"/>
              </a:ext>
            </a:extLst>
          </p:cNvPr>
          <p:cNvSpPr/>
          <p:nvPr/>
        </p:nvSpPr>
        <p:spPr>
          <a:xfrm>
            <a:off x="7564874" y="2491145"/>
            <a:ext cx="3015615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51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30C3535-526F-3CC3-44DF-29DB5D72163F}"/>
              </a:ext>
            </a:extLst>
          </p:cNvPr>
          <p:cNvSpPr/>
          <p:nvPr/>
        </p:nvSpPr>
        <p:spPr>
          <a:xfrm>
            <a:off x="7564874" y="3394115"/>
            <a:ext cx="301561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Agile Methodology Solutions</a:t>
            </a:r>
            <a:endParaRPr lang="en-US" sz="19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C8B9BE0-89E2-A395-0604-C271D011AE66}"/>
              </a:ext>
            </a:extLst>
          </p:cNvPr>
          <p:cNvSpPr/>
          <p:nvPr/>
        </p:nvSpPr>
        <p:spPr>
          <a:xfrm>
            <a:off x="7564874" y="4212788"/>
            <a:ext cx="30156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Largest portion of solutions</a:t>
            </a:r>
            <a:endParaRPr lang="en-US" sz="15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AEDD0A2-F2D7-40EB-0DC1-A319907045CA}"/>
              </a:ext>
            </a:extLst>
          </p:cNvPr>
          <p:cNvSpPr/>
          <p:nvPr/>
        </p:nvSpPr>
        <p:spPr>
          <a:xfrm>
            <a:off x="10828496" y="2491145"/>
            <a:ext cx="3015734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51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B29872E-3233-C0C7-1D1A-06D08A4375FF}"/>
              </a:ext>
            </a:extLst>
          </p:cNvPr>
          <p:cNvSpPr/>
          <p:nvPr/>
        </p:nvSpPr>
        <p:spPr>
          <a:xfrm>
            <a:off x="10828496" y="3394115"/>
            <a:ext cx="301573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Management Solutions</a:t>
            </a:r>
            <a:endParaRPr lang="en-US" sz="195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07294C9D-AD2C-88A2-CB4F-A27946E1B9D4}"/>
              </a:ext>
            </a:extLst>
          </p:cNvPr>
          <p:cNvSpPr/>
          <p:nvPr/>
        </p:nvSpPr>
        <p:spPr>
          <a:xfrm>
            <a:off x="10828496" y="4212788"/>
            <a:ext cx="301573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coverage</a:t>
            </a:r>
            <a:endParaRPr lang="en-US" sz="15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C6A59DDF-FCA7-B03E-CF5A-F62082BE0173}"/>
              </a:ext>
            </a:extLst>
          </p:cNvPr>
          <p:cNvSpPr/>
          <p:nvPr/>
        </p:nvSpPr>
        <p:spPr>
          <a:xfrm>
            <a:off x="9196626" y="5026343"/>
            <a:ext cx="3015734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51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90B1A33-8BB9-E2AA-4CF2-8C4A1E24AF55}"/>
              </a:ext>
            </a:extLst>
          </p:cNvPr>
          <p:cNvSpPr/>
          <p:nvPr/>
        </p:nvSpPr>
        <p:spPr>
          <a:xfrm>
            <a:off x="9323546" y="5929313"/>
            <a:ext cx="27618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Organizational Solutions</a:t>
            </a:r>
            <a:endParaRPr lang="en-US" sz="195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500ECFD7-3DCB-95AE-7A9A-702F8F82FA24}"/>
              </a:ext>
            </a:extLst>
          </p:cNvPr>
          <p:cNvSpPr/>
          <p:nvPr/>
        </p:nvSpPr>
        <p:spPr>
          <a:xfrm>
            <a:off x="9196626" y="6437828"/>
            <a:ext cx="301573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attention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856944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F3E19-6756-8DD6-BA9C-7FFA402576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38DE91F-356B-B229-685E-1947DF5A1392}"/>
              </a:ext>
            </a:extLst>
          </p:cNvPr>
          <p:cNvSpPr/>
          <p:nvPr/>
        </p:nvSpPr>
        <p:spPr>
          <a:xfrm>
            <a:off x="1565434" y="437436"/>
            <a:ext cx="7536656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Conceptual Framework for Agile Success</a:t>
            </a:r>
            <a:endParaRPr lang="en-US" sz="31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CEEEE5B-7812-8C6F-598B-965BDB1BDD25}"/>
              </a:ext>
            </a:extLst>
          </p:cNvPr>
          <p:cNvSpPr/>
          <p:nvPr/>
        </p:nvSpPr>
        <p:spPr>
          <a:xfrm>
            <a:off x="1565434" y="7285911"/>
            <a:ext cx="11499533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framework illustrates that agile software functionality depends on four interconnected factors: organizational context, requirements engineering, agile methodology choice, and project management orchestration. Success requires coordinated attention to all dimensions.</a:t>
            </a:r>
            <a:endParaRPr lang="en-US" sz="1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171E0A-E979-BC87-7D32-09802CA95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285" y="1932318"/>
            <a:ext cx="12123431" cy="450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0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84D13-8C68-544C-8033-69C60F801F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A717925-3D22-B158-F9B7-2A9FB018758B}"/>
              </a:ext>
            </a:extLst>
          </p:cNvPr>
          <p:cNvSpPr/>
          <p:nvPr/>
        </p:nvSpPr>
        <p:spPr>
          <a:xfrm>
            <a:off x="793790" y="1156573"/>
            <a:ext cx="608016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Insights &amp; Implications</a:t>
            </a:r>
            <a:endParaRPr lang="en-US" sz="39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736FB89-61B0-2088-8E07-87D255EEE697}"/>
              </a:ext>
            </a:extLst>
          </p:cNvPr>
          <p:cNvSpPr/>
          <p:nvPr/>
        </p:nvSpPr>
        <p:spPr>
          <a:xfrm>
            <a:off x="7303770" y="2173486"/>
            <a:ext cx="22860" cy="4899422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AD1260C-31EC-FA8E-5FFB-CDB81BE888A4}"/>
              </a:ext>
            </a:extLst>
          </p:cNvPr>
          <p:cNvSpPr/>
          <p:nvPr/>
        </p:nvSpPr>
        <p:spPr>
          <a:xfrm>
            <a:off x="6519505" y="2385298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AED710F-FF05-0086-C6EA-2A6D5895FDD4}"/>
              </a:ext>
            </a:extLst>
          </p:cNvPr>
          <p:cNvSpPr/>
          <p:nvPr/>
        </p:nvSpPr>
        <p:spPr>
          <a:xfrm>
            <a:off x="7091958" y="217348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A737AD0-657F-1016-BC88-4A149A73E3B9}"/>
              </a:ext>
            </a:extLst>
          </p:cNvPr>
          <p:cNvSpPr/>
          <p:nvPr/>
        </p:nvSpPr>
        <p:spPr>
          <a:xfrm>
            <a:off x="7166372" y="221069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551AB26-1170-86B5-095B-D16744EBA210}"/>
              </a:ext>
            </a:extLst>
          </p:cNvPr>
          <p:cNvSpPr/>
          <p:nvPr/>
        </p:nvSpPr>
        <p:spPr>
          <a:xfrm>
            <a:off x="3842028" y="22417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Saturation</a:t>
            </a:r>
            <a:endParaRPr lang="en-US" sz="19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A7D16BA-62C6-24D9-DD7D-F5ECDB14D60D}"/>
              </a:ext>
            </a:extLst>
          </p:cNvPr>
          <p:cNvSpPr/>
          <p:nvPr/>
        </p:nvSpPr>
        <p:spPr>
          <a:xfrm>
            <a:off x="793790" y="2670929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Overwhelming focus on identifying challenges with disproportionately little exploration of solutions. Recent studies find no new challenges, suggesting saturation.</a:t>
            </a:r>
            <a:endParaRPr lang="en-US" sz="15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19E9ABC8-B6D9-EBA8-1D2A-37B19D0B645E}"/>
              </a:ext>
            </a:extLst>
          </p:cNvPr>
          <p:cNvSpPr/>
          <p:nvPr/>
        </p:nvSpPr>
        <p:spPr>
          <a:xfrm>
            <a:off x="7515582" y="3575923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FF0021C-6B81-24C3-5F5D-BCBEF5F5FFEC}"/>
              </a:ext>
            </a:extLst>
          </p:cNvPr>
          <p:cNvSpPr/>
          <p:nvPr/>
        </p:nvSpPr>
        <p:spPr>
          <a:xfrm>
            <a:off x="7091958" y="336411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4069AC8-42A6-F257-CFA8-C9B3F168408A}"/>
              </a:ext>
            </a:extLst>
          </p:cNvPr>
          <p:cNvSpPr/>
          <p:nvPr/>
        </p:nvSpPr>
        <p:spPr>
          <a:xfrm>
            <a:off x="7166372" y="340131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589A307-2A62-EE43-7D4A-B2457BEA0D99}"/>
              </a:ext>
            </a:extLst>
          </p:cNvPr>
          <p:cNvSpPr/>
          <p:nvPr/>
        </p:nvSpPr>
        <p:spPr>
          <a:xfrm>
            <a:off x="8307467" y="34323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 Mismatch</a:t>
            </a:r>
            <a:endParaRPr lang="en-US" sz="195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070415C-65A4-7A0A-C9A9-A24ED788506C}"/>
              </a:ext>
            </a:extLst>
          </p:cNvPr>
          <p:cNvSpPr/>
          <p:nvPr/>
        </p:nvSpPr>
        <p:spPr>
          <a:xfrm>
            <a:off x="8307467" y="3861554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solutions target agile methodology improvements while neglecting organizational and business context challenges that are root causes.</a:t>
            </a:r>
            <a:endParaRPr lang="en-US" sz="15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EE8E64F-01C0-9D40-3D89-312EB287E9F1}"/>
              </a:ext>
            </a:extLst>
          </p:cNvPr>
          <p:cNvSpPr/>
          <p:nvPr/>
        </p:nvSpPr>
        <p:spPr>
          <a:xfrm>
            <a:off x="6519505" y="4602242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D49F78B-33A3-B39C-076B-9AD65F0163F8}"/>
              </a:ext>
            </a:extLst>
          </p:cNvPr>
          <p:cNvSpPr/>
          <p:nvPr/>
        </p:nvSpPr>
        <p:spPr>
          <a:xfrm>
            <a:off x="7091958" y="439043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2ADD121-CFB9-C9A8-473C-48CC0AF293ED}"/>
              </a:ext>
            </a:extLst>
          </p:cNvPr>
          <p:cNvSpPr/>
          <p:nvPr/>
        </p:nvSpPr>
        <p:spPr>
          <a:xfrm>
            <a:off x="7166372" y="442763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FB0E5732-3F4B-6CDA-8AAB-3D90481AA7B5}"/>
              </a:ext>
            </a:extLst>
          </p:cNvPr>
          <p:cNvSpPr/>
          <p:nvPr/>
        </p:nvSpPr>
        <p:spPr>
          <a:xfrm>
            <a:off x="2650093" y="4458653"/>
            <a:ext cx="36728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Orchestrated Approach Needed</a:t>
            </a:r>
            <a:endParaRPr lang="en-US" sz="19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47FD92C-B683-A0AE-D3AD-084C44F9FECB}"/>
              </a:ext>
            </a:extLst>
          </p:cNvPr>
          <p:cNvSpPr/>
          <p:nvPr/>
        </p:nvSpPr>
        <p:spPr>
          <a:xfrm>
            <a:off x="793790" y="4887873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Improving agile methods alone cannot solve all problems. Success requires coordinated consideration of organizational setting and project management.</a:t>
            </a:r>
            <a:endParaRPr lang="en-US" sz="155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9B3D0051-F94E-B236-9B0D-4B3927893533}"/>
              </a:ext>
            </a:extLst>
          </p:cNvPr>
          <p:cNvSpPr/>
          <p:nvPr/>
        </p:nvSpPr>
        <p:spPr>
          <a:xfrm>
            <a:off x="7515582" y="5628680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69E9BF33-2845-80F6-B10F-A8846749C8DE}"/>
              </a:ext>
            </a:extLst>
          </p:cNvPr>
          <p:cNvSpPr/>
          <p:nvPr/>
        </p:nvSpPr>
        <p:spPr>
          <a:xfrm>
            <a:off x="7091958" y="541686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F4A09507-9319-0564-4CC7-22BDFC056457}"/>
              </a:ext>
            </a:extLst>
          </p:cNvPr>
          <p:cNvSpPr/>
          <p:nvPr/>
        </p:nvSpPr>
        <p:spPr>
          <a:xfrm>
            <a:off x="7166372" y="545407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4FB3E3A2-7C99-E3B3-C356-AEEE0B0031A8}"/>
              </a:ext>
            </a:extLst>
          </p:cNvPr>
          <p:cNvSpPr/>
          <p:nvPr/>
        </p:nvSpPr>
        <p:spPr>
          <a:xfrm>
            <a:off x="8307467" y="54850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Context Matters</a:t>
            </a:r>
            <a:endParaRPr lang="en-US" sz="19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31092AC-0C7D-2F3C-C80B-D87167AF32F2}"/>
              </a:ext>
            </a:extLst>
          </p:cNvPr>
          <p:cNvSpPr/>
          <p:nvPr/>
        </p:nvSpPr>
        <p:spPr>
          <a:xfrm>
            <a:off x="8307467" y="5914311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Organizational complexity and business dynamics must be assessed for agile suitability before adoption. Fit between context and methodology is critical.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733354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6EDF3-8117-1351-A86F-4244F98862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AE6FCA8D-252D-2BB6-FA2E-45013048763C}"/>
              </a:ext>
            </a:extLst>
          </p:cNvPr>
          <p:cNvSpPr/>
          <p:nvPr/>
        </p:nvSpPr>
        <p:spPr>
          <a:xfrm>
            <a:off x="2653784" y="651629"/>
            <a:ext cx="4176117" cy="40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Practical Recommendations</a:t>
            </a:r>
            <a:endParaRPr lang="en-US" sz="25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5122BB0-F2D4-C94A-B40F-43919BF8AE39}"/>
              </a:ext>
            </a:extLst>
          </p:cNvPr>
          <p:cNvSpPr/>
          <p:nvPr/>
        </p:nvSpPr>
        <p:spPr>
          <a:xfrm>
            <a:off x="7307580" y="1312545"/>
            <a:ext cx="15240" cy="6265426"/>
          </a:xfrm>
          <a:prstGeom prst="roundRect">
            <a:avLst>
              <a:gd name="adj" fmla="val 35543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F8093EC5-0AA0-635B-E2A4-020FBF586763}"/>
              </a:ext>
            </a:extLst>
          </p:cNvPr>
          <p:cNvSpPr/>
          <p:nvPr/>
        </p:nvSpPr>
        <p:spPr>
          <a:xfrm>
            <a:off x="2638544" y="1312545"/>
            <a:ext cx="4661416" cy="1170503"/>
          </a:xfrm>
          <a:prstGeom prst="roundRect">
            <a:avLst>
              <a:gd name="adj" fmla="val 462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88C9BC1-3E05-FF0B-E3EB-A739B09D41D3}"/>
              </a:ext>
            </a:extLst>
          </p:cNvPr>
          <p:cNvSpPr/>
          <p:nvPr/>
        </p:nvSpPr>
        <p:spPr>
          <a:xfrm>
            <a:off x="5139809" y="1449110"/>
            <a:ext cx="2031206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Agile Eligibility Evaluation</a:t>
            </a:r>
            <a:endParaRPr lang="en-US" sz="12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4700EC5-CB06-E9CA-A0D8-DE1914AEA282}"/>
              </a:ext>
            </a:extLst>
          </p:cNvPr>
          <p:cNvSpPr/>
          <p:nvPr/>
        </p:nvSpPr>
        <p:spPr>
          <a:xfrm>
            <a:off x="2775109" y="1727835"/>
            <a:ext cx="4395907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organizational preconditions including multiple objectives, dispersed teams, decision-making structures, and customer resource availability before adopting agile approaches.</a:t>
            </a:r>
            <a:endParaRPr lang="en-US" sz="10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66AF79D5-063E-1EF5-7059-0A623BD0AC28}"/>
              </a:ext>
            </a:extLst>
          </p:cNvPr>
          <p:cNvSpPr/>
          <p:nvPr/>
        </p:nvSpPr>
        <p:spPr>
          <a:xfrm>
            <a:off x="7330440" y="2740938"/>
            <a:ext cx="4661416" cy="1170503"/>
          </a:xfrm>
          <a:prstGeom prst="rect">
            <a:avLst/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C78DB7A-AA9E-CB1B-54E6-80C3BE7C6355}"/>
              </a:ext>
            </a:extLst>
          </p:cNvPr>
          <p:cNvSpPr/>
          <p:nvPr/>
        </p:nvSpPr>
        <p:spPr>
          <a:xfrm>
            <a:off x="7459385" y="2877503"/>
            <a:ext cx="1612106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Vision Articulation</a:t>
            </a:r>
            <a:endParaRPr lang="en-US" sz="125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F48B0C3-A5B4-966B-8E2E-61BC17F1C9D7}"/>
              </a:ext>
            </a:extLst>
          </p:cNvPr>
          <p:cNvSpPr/>
          <p:nvPr/>
        </p:nvSpPr>
        <p:spPr>
          <a:xfrm>
            <a:off x="7459385" y="3156228"/>
            <a:ext cx="4395907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Leadership must clearly communicate vision and goals to all stakeholders, ensuring consistency in understanding requirements and managing dynamic changes.</a:t>
            </a:r>
            <a:endParaRPr lang="en-US" sz="10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4A9F4B5-FB74-5F90-4D23-371E5AA367C6}"/>
              </a:ext>
            </a:extLst>
          </p:cNvPr>
          <p:cNvSpPr/>
          <p:nvPr/>
        </p:nvSpPr>
        <p:spPr>
          <a:xfrm>
            <a:off x="2638544" y="4169331"/>
            <a:ext cx="4661416" cy="964287"/>
          </a:xfrm>
          <a:prstGeom prst="roundRect">
            <a:avLst>
              <a:gd name="adj" fmla="val 56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F4504D4-9F98-BBE1-8B69-B251BA001D7B}"/>
              </a:ext>
            </a:extLst>
          </p:cNvPr>
          <p:cNvSpPr/>
          <p:nvPr/>
        </p:nvSpPr>
        <p:spPr>
          <a:xfrm>
            <a:off x="5082540" y="4305895"/>
            <a:ext cx="208847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Competent Project Teams</a:t>
            </a:r>
            <a:endParaRPr lang="en-US" sz="12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65EE954-E4C9-FE29-ACEF-F266B73A94EE}"/>
              </a:ext>
            </a:extLst>
          </p:cNvPr>
          <p:cNvSpPr/>
          <p:nvPr/>
        </p:nvSpPr>
        <p:spPr>
          <a:xfrm>
            <a:off x="2775109" y="4584621"/>
            <a:ext cx="4395907" cy="41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teams with adequate resources, control power, and engaged customers who have sufficient knowledge, time, and positive attitudes.</a:t>
            </a:r>
            <a:endParaRPr lang="en-US" sz="10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C44B89D5-F7E9-694A-E5F0-78DD63AC7DBE}"/>
              </a:ext>
            </a:extLst>
          </p:cNvPr>
          <p:cNvSpPr/>
          <p:nvPr/>
        </p:nvSpPr>
        <p:spPr>
          <a:xfrm>
            <a:off x="7330440" y="5391507"/>
            <a:ext cx="4661416" cy="964287"/>
          </a:xfrm>
          <a:prstGeom prst="rect">
            <a:avLst/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0AE0592-EE33-1B78-4446-C7C6A3054D8E}"/>
              </a:ext>
            </a:extLst>
          </p:cNvPr>
          <p:cNvSpPr/>
          <p:nvPr/>
        </p:nvSpPr>
        <p:spPr>
          <a:xfrm>
            <a:off x="7459385" y="5528072"/>
            <a:ext cx="2151698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NFR Specification Strategy</a:t>
            </a:r>
            <a:endParaRPr lang="en-US" sz="12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18AAC2B-9F5B-9484-EDCE-92895F6312C8}"/>
              </a:ext>
            </a:extLst>
          </p:cNvPr>
          <p:cNvSpPr/>
          <p:nvPr/>
        </p:nvSpPr>
        <p:spPr>
          <a:xfrm>
            <a:off x="7459385" y="5806797"/>
            <a:ext cx="4395907" cy="41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Initiate non-functional requirements in demonstrable fashion early, engaging users for verification and improvements throughout development.</a:t>
            </a:r>
            <a:endParaRPr lang="en-US" sz="10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0C8F6CFB-0A6E-99A0-7FA2-2EECD25485F0}"/>
              </a:ext>
            </a:extLst>
          </p:cNvPr>
          <p:cNvSpPr/>
          <p:nvPr/>
        </p:nvSpPr>
        <p:spPr>
          <a:xfrm>
            <a:off x="2638544" y="6613684"/>
            <a:ext cx="4661416" cy="964287"/>
          </a:xfrm>
          <a:prstGeom prst="roundRect">
            <a:avLst>
              <a:gd name="adj" fmla="val 56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1CBB3B5-0978-2D9F-A865-3981F653BE88}"/>
              </a:ext>
            </a:extLst>
          </p:cNvPr>
          <p:cNvSpPr/>
          <p:nvPr/>
        </p:nvSpPr>
        <p:spPr>
          <a:xfrm>
            <a:off x="4895493" y="6750248"/>
            <a:ext cx="227552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Methodology Improvements</a:t>
            </a:r>
            <a:endParaRPr lang="en-US" sz="12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F1746AE-4AFA-9939-62D8-8922153D64B4}"/>
              </a:ext>
            </a:extLst>
          </p:cNvPr>
          <p:cNvSpPr/>
          <p:nvPr/>
        </p:nvSpPr>
        <p:spPr>
          <a:xfrm>
            <a:off x="2775109" y="7028974"/>
            <a:ext cx="4395907" cy="41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Continue advancing agile practices in documentation, traceability, testing, prioritization, and handling implicit requirements and constant changes.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26731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C6E68-72E8-C3AD-4154-26736EBBB4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A59BC97A-F9CA-616A-DC98-917CA240B964}"/>
              </a:ext>
            </a:extLst>
          </p:cNvPr>
          <p:cNvSpPr/>
          <p:nvPr/>
        </p:nvSpPr>
        <p:spPr>
          <a:xfrm>
            <a:off x="2507813" y="365760"/>
            <a:ext cx="4884063" cy="41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Conclusions &amp; Future Directions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65E95B1-3A59-6754-4BB0-28A163CB7F2A}"/>
              </a:ext>
            </a:extLst>
          </p:cNvPr>
          <p:cNvSpPr/>
          <p:nvPr/>
        </p:nvSpPr>
        <p:spPr>
          <a:xfrm>
            <a:off x="2507813" y="1113830"/>
            <a:ext cx="199513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Contributions</a:t>
            </a:r>
            <a:endParaRPr lang="en-US" sz="15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BB07385-A009-5C75-99D1-75EF396AB3A3}"/>
              </a:ext>
            </a:extLst>
          </p:cNvPr>
          <p:cNvSpPr/>
          <p:nvPr/>
        </p:nvSpPr>
        <p:spPr>
          <a:xfrm>
            <a:off x="2507813" y="1496258"/>
            <a:ext cx="464510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Three-dimensional classification of challenges and solutions</a:t>
            </a:r>
            <a:endParaRPr lang="en-US" sz="10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FC9132E-3405-476B-5AF8-BD955E426E27}"/>
              </a:ext>
            </a:extLst>
          </p:cNvPr>
          <p:cNvSpPr/>
          <p:nvPr/>
        </p:nvSpPr>
        <p:spPr>
          <a:xfrm>
            <a:off x="2507813" y="1755458"/>
            <a:ext cx="464510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Identification of challenge-solution mismatch</a:t>
            </a:r>
            <a:endParaRPr lang="en-US" sz="10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EF1C9F3-796E-021D-412A-23B664C6C3D6}"/>
              </a:ext>
            </a:extLst>
          </p:cNvPr>
          <p:cNvSpPr/>
          <p:nvPr/>
        </p:nvSpPr>
        <p:spPr>
          <a:xfrm>
            <a:off x="2507813" y="2014657"/>
            <a:ext cx="464510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Conceptual framework for orchestrated approach</a:t>
            </a:r>
            <a:endParaRPr lang="en-US" sz="1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96A9A19-8B02-AA1E-83D3-72B44598E9F5}"/>
              </a:ext>
            </a:extLst>
          </p:cNvPr>
          <p:cNvSpPr/>
          <p:nvPr/>
        </p:nvSpPr>
        <p:spPr>
          <a:xfrm>
            <a:off x="2507813" y="2273856"/>
            <a:ext cx="464510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from challenge identification to relationship exploration</a:t>
            </a:r>
            <a:endParaRPr lang="en-US" sz="1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8F535CF-C954-AFE0-D458-FCF938307CA5}"/>
              </a:ext>
            </a:extLst>
          </p:cNvPr>
          <p:cNvSpPr/>
          <p:nvPr/>
        </p:nvSpPr>
        <p:spPr>
          <a:xfrm>
            <a:off x="2507813" y="2619613"/>
            <a:ext cx="199513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Study Limitations</a:t>
            </a:r>
            <a:endParaRPr lang="en-US" sz="155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0A975C5-8FB1-006D-FB79-32D05D3834B6}"/>
              </a:ext>
            </a:extLst>
          </p:cNvPr>
          <p:cNvSpPr/>
          <p:nvPr/>
        </p:nvSpPr>
        <p:spPr>
          <a:xfrm>
            <a:off x="2507813" y="3002042"/>
            <a:ext cx="464510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scope to requirements engineering</a:t>
            </a:r>
            <a:endParaRPr lang="en-US" sz="10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B94B32F-BFA1-46E9-8BF0-9A865BF242E7}"/>
              </a:ext>
            </a:extLst>
          </p:cNvPr>
          <p:cNvSpPr/>
          <p:nvPr/>
        </p:nvSpPr>
        <p:spPr>
          <a:xfrm>
            <a:off x="2507813" y="3261241"/>
            <a:ext cx="464510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Subjective classification analysis</a:t>
            </a:r>
            <a:endParaRPr lang="en-US" sz="10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94494AB-B427-19D2-6033-188CE932F050}"/>
              </a:ext>
            </a:extLst>
          </p:cNvPr>
          <p:cNvSpPr/>
          <p:nvPr/>
        </p:nvSpPr>
        <p:spPr>
          <a:xfrm>
            <a:off x="2507813" y="3520440"/>
            <a:ext cx="4645104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requires empirical validation</a:t>
            </a:r>
            <a:endParaRPr lang="en-US" sz="10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7E29BBC-96C0-EF48-2453-0658EB4C5BBC}"/>
              </a:ext>
            </a:extLst>
          </p:cNvPr>
          <p:cNvSpPr/>
          <p:nvPr/>
        </p:nvSpPr>
        <p:spPr>
          <a:xfrm>
            <a:off x="7484864" y="1113830"/>
            <a:ext cx="2348984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Research Avenues</a:t>
            </a:r>
            <a:endParaRPr lang="en-US" sz="155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529A132-80A7-4A3D-FFE4-1B6F85C60246}"/>
              </a:ext>
            </a:extLst>
          </p:cNvPr>
          <p:cNvSpPr/>
          <p:nvPr/>
        </p:nvSpPr>
        <p:spPr>
          <a:xfrm>
            <a:off x="7484864" y="1496258"/>
            <a:ext cx="4645104" cy="638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focus from studying challenges to examining influential elements and their relationships. Investigate effectiveness and efficiency of agile practices in different contexts.</a:t>
            </a:r>
            <a:endParaRPr lang="en-US" sz="10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B90C868-EB40-C919-BEB3-04A93DBF6136}"/>
              </a:ext>
            </a:extLst>
          </p:cNvPr>
          <p:cNvSpPr/>
          <p:nvPr/>
        </p:nvSpPr>
        <p:spPr>
          <a:xfrm>
            <a:off x="7684294" y="2284095"/>
            <a:ext cx="4445675" cy="638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"Agile requirement engineering challenges are not all rooted in methodology deficiencies. Success requires supporting organizational settings coupled with appropriate project management."</a:t>
            </a:r>
            <a:endParaRPr lang="en-US" sz="10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9BA7669-864C-25FB-BBDB-CFBE62D55050}"/>
              </a:ext>
            </a:extLst>
          </p:cNvPr>
          <p:cNvSpPr/>
          <p:nvPr/>
        </p:nvSpPr>
        <p:spPr>
          <a:xfrm>
            <a:off x="7484864" y="2284095"/>
            <a:ext cx="15240" cy="638294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756D9267-1D9F-EFF6-CC9A-E83F774DD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864" y="3071932"/>
            <a:ext cx="4645104" cy="464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0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>
            <a:spLocks noGrp="1"/>
          </p:cNvSpPr>
          <p:nvPr>
            <p:ph type="title"/>
          </p:nvPr>
        </p:nvSpPr>
        <p:spPr>
          <a:xfrm>
            <a:off x="2569672" y="1157630"/>
            <a:ext cx="9500640" cy="142656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92600" tIns="292600" rIns="292600" bIns="292600" anchor="ctr" anchorCtr="0">
            <a:normAutofit/>
          </a:bodyPr>
          <a:lstStyle/>
          <a:p>
            <a:pPr>
              <a:buSzPts val="2600"/>
            </a:pPr>
            <a:r>
              <a:rPr lang="en"/>
              <a:t>THANK YOU</a:t>
            </a:r>
            <a:endParaRPr/>
          </a:p>
        </p:txBody>
      </p:sp>
      <p:sp>
        <p:nvSpPr>
          <p:cNvPr id="298" name="Google Shape;298;p47"/>
          <p:cNvSpPr txBox="1">
            <a:spLocks noGrp="1"/>
          </p:cNvSpPr>
          <p:nvPr>
            <p:ph type="body" idx="1"/>
          </p:nvPr>
        </p:nvSpPr>
        <p:spPr>
          <a:xfrm>
            <a:off x="2569672" y="3165654"/>
            <a:ext cx="950064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u="sng" dirty="0"/>
              <a:t>References</a:t>
            </a:r>
            <a:endParaRPr dirty="0"/>
          </a:p>
          <a:p>
            <a:pPr marL="365760" indent="-365760">
              <a:buSzPts val="2000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https://pure.port.ac.uk/ws/portalfiles/portal/75915474/Agile_Software_Requirements_Engineering_Challenges_Solutions.pdf</a:t>
            </a:r>
            <a:endParaRPr lang="en-US" u="sng" dirty="0">
              <a:solidFill>
                <a:schemeClr val="hlink"/>
              </a:solidFill>
            </a:endParaRPr>
          </a:p>
          <a:p>
            <a:pPr marL="365760" indent="-365760">
              <a:buSzPts val="2000"/>
            </a:pPr>
            <a:endParaRPr dirty="0"/>
          </a:p>
          <a:p>
            <a:pPr marL="365760" indent="-365760">
              <a:buSzPts val="2000"/>
            </a:pPr>
            <a:r>
              <a:rPr lang="en" dirty="0"/>
              <a:t>Any Questions?</a:t>
            </a:r>
            <a:endParaRPr dirty="0"/>
          </a:p>
        </p:txBody>
      </p:sp>
      <p:sp>
        <p:nvSpPr>
          <p:cNvPr id="299" name="Google Shape;299;p47"/>
          <p:cNvSpPr>
            <a:spLocks noGrp="1"/>
          </p:cNvSpPr>
          <p:nvPr>
            <p:ph type="sldNum" idx="12"/>
          </p:nvPr>
        </p:nvSpPr>
        <p:spPr>
          <a:xfrm>
            <a:off x="13184179" y="7461504"/>
            <a:ext cx="585120" cy="438720"/>
          </a:xfrm>
          <a:prstGeom prst="ellipse">
            <a:avLst/>
          </a:prstGeom>
          <a:solidFill>
            <a:srgbClr val="1D1D1D">
              <a:alpha val="69800"/>
            </a:srgbClr>
          </a:solidFill>
          <a:ln>
            <a:noFill/>
          </a:ln>
        </p:spPr>
        <p:txBody>
          <a:bodyPr spcFirstLastPara="1" wrap="square" lIns="29240" tIns="73120" rIns="29240" bIns="73120" anchor="ctr" anchorCtr="0">
            <a:noAutofit/>
          </a:bodyPr>
          <a:lstStyle/>
          <a:p>
            <a:fld id="{00000000-1234-1234-1234-123412341234}" type="slidenum">
              <a:rPr lang="en"/>
              <a:pPr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1231</Words>
  <Application>Microsoft Office PowerPoint</Application>
  <PresentationFormat>Custom</PresentationFormat>
  <Paragraphs>191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Roboto</vt:lpstr>
      <vt:lpstr>Arial</vt:lpstr>
      <vt:lpstr>Raleway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Tawhid, Ekhtiar</dc:creator>
  <cp:lastModifiedBy>Sadia Arfin</cp:lastModifiedBy>
  <cp:revision>32</cp:revision>
  <dcterms:created xsi:type="dcterms:W3CDTF">2026-01-16T06:02:15Z</dcterms:created>
  <dcterms:modified xsi:type="dcterms:W3CDTF">2026-01-17T04:02:07Z</dcterms:modified>
</cp:coreProperties>
</file>