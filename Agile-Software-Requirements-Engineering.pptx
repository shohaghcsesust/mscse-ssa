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4630400" cy="8229600"/>
  <p:notesSz cx="8229600" cy="14630400"/>
  <p:embeddedFontLst>
    <p:embeddedFont>
      <p:font typeface="Raleway" pitchFamily="2" charset="0"/>
      <p:regular r:id="rId19"/>
    </p:embeddedFont>
    <p:embeddedFont>
      <p:font typeface="Raleway Light" pitchFamily="2" charset="0"/>
      <p:regular r:id="rId20"/>
    </p:embeddedFont>
    <p:embeddedFont>
      <p:font typeface="Roboto" panose="02000000000000000000" pitchFamily="2" charset="0"/>
      <p:regular r:id="rId21"/>
      <p:bold r:id="rId22"/>
      <p: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789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agilemanifesto.org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Relationship Id="rId4" Type="http://schemas.openxmlformats.org/officeDocument/2006/relationships/hyperlink" Target="https://www.scrum.org/resources/scrum-gui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527816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Agile Software Requirements Engineering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280190" y="3847267"/>
            <a:ext cx="565630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Challenges, Solutions &amp; A Conceptual Framework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6280190" y="4455081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examining requirements engineering practices, challenges, and solutions in agile software development from 2009-2023.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6280190" y="5321022"/>
            <a:ext cx="1631037" cy="373142"/>
          </a:xfrm>
          <a:prstGeom prst="roundRect">
            <a:avLst>
              <a:gd name="adj" fmla="val 17872"/>
            </a:avLst>
          </a:prstGeom>
          <a:solidFill>
            <a:srgbClr val="E1E1E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399252" y="5380553"/>
            <a:ext cx="1392912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REVIEW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10406" y="5313402"/>
            <a:ext cx="2462093" cy="388382"/>
          </a:xfrm>
          <a:prstGeom prst="roundRect">
            <a:avLst>
              <a:gd name="adj" fmla="val 17171"/>
            </a:avLst>
          </a:prstGeom>
          <a:noFill/>
          <a:ln w="7620">
            <a:solidFill>
              <a:srgbClr val="1B1B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8137088" y="5380553"/>
            <a:ext cx="2208728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REQUIREMENTS ENGINEERING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040963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 Overview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93790" y="1958697"/>
            <a:ext cx="7556421" cy="1158716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/>
          <p:cNvSpPr/>
          <p:nvPr/>
        </p:nvSpPr>
        <p:spPr>
          <a:xfrm>
            <a:off x="999768" y="216467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 Period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99768" y="2593896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2009-2023 systematic literature review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793790" y="3315772"/>
            <a:ext cx="7556421" cy="1158716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999768" y="35217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Database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999768" y="3950970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Scopus primary source with multiple database validation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93790" y="4672846"/>
            <a:ext cx="7556421" cy="1158716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999768" y="487882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Papers Reviewed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99768" y="5308044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78 valid papers from 38 journals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793790" y="6029920"/>
            <a:ext cx="7556421" cy="1158716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999768" y="623589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Focus Area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99768" y="6665119"/>
            <a:ext cx="714446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requirements engineering challenges and solutions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1818561"/>
            <a:ext cx="158710" cy="1587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31796" y="1770936"/>
            <a:ext cx="1680805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QUESTIONS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793790" y="2163842"/>
            <a:ext cx="552795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Research Questions</a:t>
            </a:r>
            <a:endParaRPr lang="en-US" sz="3900" dirty="0"/>
          </a:p>
        </p:txBody>
      </p:sp>
      <p:sp>
        <p:nvSpPr>
          <p:cNvPr id="5" name="Shape 2"/>
          <p:cNvSpPr/>
          <p:nvPr/>
        </p:nvSpPr>
        <p:spPr>
          <a:xfrm>
            <a:off x="793790" y="3081576"/>
            <a:ext cx="13042821" cy="1506736"/>
          </a:xfrm>
          <a:prstGeom prst="roundRect">
            <a:avLst>
              <a:gd name="adj" fmla="val 5532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16650" y="3104436"/>
            <a:ext cx="793790" cy="1461016"/>
          </a:xfrm>
          <a:prstGeom prst="roundRect">
            <a:avLst>
              <a:gd name="adj" fmla="val 7046"/>
            </a:avLst>
          </a:prstGeom>
          <a:solidFill>
            <a:srgbClr val="E1E1E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1060847" y="3648908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1808798" y="3302794"/>
            <a:ext cx="289571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Typologies of Challenges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808798" y="3732014"/>
            <a:ext cx="118065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are the classifications of challenges faced with agile software development in general and specifically in requirements engineering?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93790" y="4786670"/>
            <a:ext cx="13042821" cy="1190744"/>
          </a:xfrm>
          <a:prstGeom prst="roundRect">
            <a:avLst>
              <a:gd name="adj" fmla="val 7001"/>
            </a:avLst>
          </a:prstGeom>
          <a:solidFill>
            <a:srgbClr val="FFFFFF">
              <a:alpha val="95000"/>
            </a:srgbClr>
          </a:solidFill>
          <a:ln w="2286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816650" y="4809530"/>
            <a:ext cx="793790" cy="1145024"/>
          </a:xfrm>
          <a:prstGeom prst="roundRect">
            <a:avLst>
              <a:gd name="adj" fmla="val 7046"/>
            </a:avLst>
          </a:prstGeom>
          <a:solidFill>
            <a:srgbClr val="E1E1E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060847" y="519600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1808798" y="5007888"/>
            <a:ext cx="253543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Solution Effectiveness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1808798" y="5437108"/>
            <a:ext cx="118065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the solutions address the challenges identified in agile requirements engineering practices?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793790" y="6200656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These questions guide our investigation into the gap between identified challenges and available solutions in agile requirements engineering.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59036"/>
            <a:ext cx="7556421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Methodology: Systematic Literature Review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259520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Search Strategy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3103721"/>
            <a:ext cx="2732008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Webster and Watson's concept-centric approach was used to analyze challenges and solutions.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4552474"/>
            <a:ext cx="27320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Scopus primary database search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3790" y="5256967"/>
            <a:ext cx="27320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Extended to IEEE, Wiley, ProQuest, Emerald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93790" y="5961459"/>
            <a:ext cx="27320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Quality assessment using Dybå and Dingsøyr criteria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93790" y="6665952"/>
            <a:ext cx="2732008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Backwards and forwards snowballing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017526" y="259520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Selection Process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4017526" y="3103721"/>
            <a:ext cx="434018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Rigorous filtering ensured quality and relevance of included studies.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017526" y="3917394"/>
            <a:ext cx="434018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Initial: 411 records identified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017526" y="4304348"/>
            <a:ext cx="434018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Screened: 398 records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4017526" y="4691301"/>
            <a:ext cx="434018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Assessed: 91 reports for eligibility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4017526" y="5078254"/>
            <a:ext cx="434018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Final: 78 studies included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99398"/>
            <a:ext cx="638734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 Key Challenges Identified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91631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223063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93790" y="2375535"/>
            <a:ext cx="375165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Quality Requirements Neglected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93790" y="280475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Focus remains on functional requirements while non-functional requirements are ignored in early sprints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14379" y="191631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14379" y="223063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7414379" y="2375535"/>
            <a:ext cx="272831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Minimal Documentation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414379" y="280475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Agile's less documentation-oriented approach leads to incomplete or non-existing records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3790" y="378702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93790" y="410134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93790" y="4246245"/>
            <a:ext cx="300263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Inappropriate Prioritization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3790" y="467546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Difficulty in objective measurement and maintaining priority lists with large requirement sets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414379" y="378702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414379" y="410134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14379" y="424624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Managing Change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414379" y="467546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Rapidly changing requirements cause instability and impact project cost and schedule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93790" y="565773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793790" y="597205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93790" y="6116955"/>
            <a:ext cx="329362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Poorly Written Requirements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793790" y="654617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Requirements are often ambiguous, incomplete, inconsistent, and unfeasible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4379" y="5657731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06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414379" y="5972056"/>
            <a:ext cx="6422231" cy="22860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414379" y="6116955"/>
            <a:ext cx="315789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Inaccurate Effort Estimation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7414379" y="6546175"/>
            <a:ext cx="642223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Estimates change substantially due to requirement changes and lack of historical data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10258"/>
            <a:ext cx="670333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Additional Critical Challenges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424827"/>
            <a:ext cx="4215289" cy="2416731"/>
          </a:xfrm>
          <a:prstGeom prst="roundRect">
            <a:avLst>
              <a:gd name="adj" fmla="val 4540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93790" y="2401967"/>
            <a:ext cx="4215289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603778" y="2127171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82372" y="2275999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015008" y="2920960"/>
            <a:ext cx="271224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Customer Unavailability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15008" y="3350181"/>
            <a:ext cx="3772853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 customer involvement and interactions with development teams, particularly in offshore development scenarios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07437" y="2424827"/>
            <a:ext cx="4215408" cy="2416731"/>
          </a:xfrm>
          <a:prstGeom prst="roundRect">
            <a:avLst>
              <a:gd name="adj" fmla="val 4540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207437" y="2401967"/>
            <a:ext cx="4215408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017425" y="2127171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196018" y="2275999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5428655" y="2920960"/>
            <a:ext cx="3147536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Customer Knowledge Gaps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428655" y="3350181"/>
            <a:ext cx="3772972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Customers lacking knowledge about agile approaches or insufficient domain expertise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9621203" y="2424827"/>
            <a:ext cx="4215289" cy="2416731"/>
          </a:xfrm>
          <a:prstGeom prst="roundRect">
            <a:avLst>
              <a:gd name="adj" fmla="val 4540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621203" y="2401967"/>
            <a:ext cx="4215289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431191" y="2127171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1609784" y="2275999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842421" y="2920960"/>
            <a:ext cx="299549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Inappropriate Architecture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42421" y="3350181"/>
            <a:ext cx="377285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Early architecture decisions become redundant when new requirements arise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93790" y="5337572"/>
            <a:ext cx="6422112" cy="1781651"/>
          </a:xfrm>
          <a:prstGeom prst="roundRect">
            <a:avLst>
              <a:gd name="adj" fmla="val 6159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93790" y="5314712"/>
            <a:ext cx="6422112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707130" y="5039916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885724" y="5188744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1015008" y="5833705"/>
            <a:ext cx="2891552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Communication Methods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15008" y="6262926"/>
            <a:ext cx="597967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Difficulty communicating efficiently with stakeholders using appropriate tools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7414260" y="5337572"/>
            <a:ext cx="6422231" cy="1781651"/>
          </a:xfrm>
          <a:prstGeom prst="roundRect">
            <a:avLst>
              <a:gd name="adj" fmla="val 6159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7414260" y="5314712"/>
            <a:ext cx="6422231" cy="91440"/>
          </a:xfrm>
          <a:prstGeom prst="roundRect">
            <a:avLst>
              <a:gd name="adj" fmla="val 91163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0327719" y="5039916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10506313" y="5188744"/>
            <a:ext cx="23812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7635478" y="5833705"/>
            <a:ext cx="297561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Maintaining Specifications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7635478" y="6262926"/>
            <a:ext cx="597979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Overloaded teams struggle to maintain software requirements specifications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50482" y="409218"/>
            <a:ext cx="5250418" cy="4638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Challenge Prevalence Analysis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0482" y="1169908"/>
            <a:ext cx="10729436" cy="60083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50482" y="7345204"/>
            <a:ext cx="10729436" cy="475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most prevalent challenges show that quality requirements and documentation issues dominate agile requirements engineering concerns, appearing in 30 and 25 papers respectively.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5213" y="499110"/>
            <a:ext cx="5199102" cy="567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Nine Solution Categories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55213" y="1429107"/>
            <a:ext cx="6469142" cy="2077045"/>
          </a:xfrm>
          <a:prstGeom prst="roundRect">
            <a:avLst>
              <a:gd name="adj" fmla="val 3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44285" y="1618178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065" y="1767840"/>
            <a:ext cx="244912" cy="24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4285" y="2344103"/>
            <a:ext cx="3464600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Provide Requirement Information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944285" y="2736533"/>
            <a:ext cx="6090999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cases, user stories, acceptance criteria, and domain expert involvement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405807" y="1429107"/>
            <a:ext cx="6469261" cy="2077045"/>
          </a:xfrm>
          <a:prstGeom prst="roundRect">
            <a:avLst>
              <a:gd name="adj" fmla="val 3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7594878" y="1618178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44658" y="1767840"/>
            <a:ext cx="244912" cy="244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94878" y="2344103"/>
            <a:ext cx="3167539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 Quality Requirements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7594878" y="2736533"/>
            <a:ext cx="609111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Separate QR backlogs, specialist teams, and lightweight tools like NORMATIC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55213" y="3687604"/>
            <a:ext cx="6469142" cy="2077045"/>
          </a:xfrm>
          <a:prstGeom prst="roundRect">
            <a:avLst>
              <a:gd name="adj" fmla="val 3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0"/>
          <p:cNvSpPr/>
          <p:nvPr/>
        </p:nvSpPr>
        <p:spPr>
          <a:xfrm>
            <a:off x="944285" y="3876675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065" y="4026337"/>
            <a:ext cx="244912" cy="244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44285" y="4602599"/>
            <a:ext cx="2268736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Share Knowledge</a:t>
            </a:r>
            <a:endParaRPr lang="en-US" sz="1750" dirty="0"/>
          </a:p>
        </p:txBody>
      </p:sp>
      <p:sp>
        <p:nvSpPr>
          <p:cNvPr id="17" name="Text 12"/>
          <p:cNvSpPr/>
          <p:nvPr/>
        </p:nvSpPr>
        <p:spPr>
          <a:xfrm>
            <a:off x="944285" y="4995029"/>
            <a:ext cx="6090999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Face-to-face interactions, communications hubs, and surrogate customers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405807" y="3687604"/>
            <a:ext cx="6469261" cy="2077045"/>
          </a:xfrm>
          <a:prstGeom prst="roundRect">
            <a:avLst>
              <a:gd name="adj" fmla="val 3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4"/>
          <p:cNvSpPr/>
          <p:nvPr/>
        </p:nvSpPr>
        <p:spPr>
          <a:xfrm>
            <a:off x="7594878" y="3876675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44658" y="4026337"/>
            <a:ext cx="244912" cy="244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594878" y="4602599"/>
            <a:ext cx="2650808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 Product Backlog</a:t>
            </a:r>
            <a:endParaRPr lang="en-US" sz="1750" dirty="0"/>
          </a:p>
        </p:txBody>
      </p:sp>
      <p:sp>
        <p:nvSpPr>
          <p:cNvPr id="22" name="Text 16"/>
          <p:cNvSpPr/>
          <p:nvPr/>
        </p:nvSpPr>
        <p:spPr>
          <a:xfrm>
            <a:off x="7594878" y="4995029"/>
            <a:ext cx="609111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backlogs covering different viewpoints and continuous reprioritization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5213" y="5946100"/>
            <a:ext cx="6469142" cy="1786771"/>
          </a:xfrm>
          <a:prstGeom prst="roundRect">
            <a:avLst>
              <a:gd name="adj" fmla="val 4266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18"/>
          <p:cNvSpPr/>
          <p:nvPr/>
        </p:nvSpPr>
        <p:spPr>
          <a:xfrm>
            <a:off x="944285" y="6135172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065" y="6284833"/>
            <a:ext cx="244912" cy="244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44285" y="6861096"/>
            <a:ext cx="2268736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Improve Estimation</a:t>
            </a:r>
            <a:endParaRPr lang="en-US" sz="1750" dirty="0"/>
          </a:p>
        </p:txBody>
      </p:sp>
      <p:sp>
        <p:nvSpPr>
          <p:cNvPr id="27" name="Text 20"/>
          <p:cNvSpPr/>
          <p:nvPr/>
        </p:nvSpPr>
        <p:spPr>
          <a:xfrm>
            <a:off x="944285" y="7253526"/>
            <a:ext cx="6090999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Elicit rationales, regular estimation time, and data-driven techniques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7405807" y="5946100"/>
            <a:ext cx="6469261" cy="1786771"/>
          </a:xfrm>
          <a:prstGeom prst="roundRect">
            <a:avLst>
              <a:gd name="adj" fmla="val 4266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2"/>
          <p:cNvSpPr/>
          <p:nvPr/>
        </p:nvSpPr>
        <p:spPr>
          <a:xfrm>
            <a:off x="7594878" y="6135172"/>
            <a:ext cx="544473" cy="544473"/>
          </a:xfrm>
          <a:prstGeom prst="roundRect">
            <a:avLst>
              <a:gd name="adj" fmla="val 16792542"/>
            </a:avLst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744658" y="6284833"/>
            <a:ext cx="244912" cy="244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594878" y="6861096"/>
            <a:ext cx="2268736" cy="2836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Maintain Traceability</a:t>
            </a:r>
            <a:endParaRPr lang="en-US" sz="1750" dirty="0"/>
          </a:p>
        </p:txBody>
      </p:sp>
      <p:sp>
        <p:nvSpPr>
          <p:cNvPr id="32" name="Text 24"/>
          <p:cNvSpPr/>
          <p:nvPr/>
        </p:nvSpPr>
        <p:spPr>
          <a:xfrm>
            <a:off x="7594878" y="7253526"/>
            <a:ext cx="6091118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Models to trace requirements and tools like JIRA for management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49066" y="407313"/>
            <a:ext cx="4950381" cy="455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Additional Solution Strategies</a:t>
            </a:r>
            <a:endParaRPr lang="en-US" sz="2850" dirty="0"/>
          </a:p>
        </p:txBody>
      </p:sp>
      <p:sp>
        <p:nvSpPr>
          <p:cNvPr id="3" name="Shape 1"/>
          <p:cNvSpPr/>
          <p:nvPr/>
        </p:nvSpPr>
        <p:spPr>
          <a:xfrm>
            <a:off x="2049066" y="1244798"/>
            <a:ext cx="5088493" cy="1161217"/>
          </a:xfrm>
          <a:prstGeom prst="roundRect">
            <a:avLst>
              <a:gd name="adj" fmla="val 5270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2209919" y="1405652"/>
            <a:ext cx="2002750" cy="22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Minimal Documentation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09919" y="1778913"/>
            <a:ext cx="4766786" cy="46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Consolidated software requirements specifications instead of various artifacts. Document architectural features and rationale.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49066" y="2551628"/>
            <a:ext cx="5088493" cy="1161217"/>
          </a:xfrm>
          <a:prstGeom prst="roundRect">
            <a:avLst>
              <a:gd name="adj" fmla="val 5270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09919" y="2712482"/>
            <a:ext cx="2258139" cy="22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Requirements Prioritization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09919" y="3085743"/>
            <a:ext cx="4766786" cy="46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Consider stakeholder satisfaction, implementation risk, and available resources in prioritization decisions.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00461" y="1244798"/>
            <a:ext cx="5088493" cy="1161217"/>
          </a:xfrm>
          <a:prstGeom prst="roundRect">
            <a:avLst>
              <a:gd name="adj" fmla="val 5270"/>
            </a:avLst>
          </a:prstGeom>
          <a:solidFill>
            <a:srgbClr val="FFFFFF">
              <a:alpha val="95000"/>
            </a:srgbClr>
          </a:solidFill>
          <a:ln w="1524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661315" y="1405652"/>
            <a:ext cx="1821299" cy="22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 Vision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61315" y="1778913"/>
            <a:ext cx="4766786" cy="46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Maintain common product vision between customers and development teams to reduce change requests.</a:t>
            </a:r>
            <a:endParaRPr lang="en-US" sz="11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461" y="2569845"/>
            <a:ext cx="5088493" cy="50884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35248"/>
            <a:ext cx="708243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Three-Dimensional Framework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280190" y="1952982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Challenges and solutions are classified into three interconnected dimensions that reveal the root causes and appropriate intervention strategies.</a:t>
            </a:r>
            <a:endParaRPr lang="en-US" sz="15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2811304"/>
            <a:ext cx="992267" cy="146101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70815" y="3009662"/>
            <a:ext cx="3763804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Organizational/Business Context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7470815" y="3438882"/>
            <a:ext cx="636579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Large organizational settings, dynamic business changes, motivation, communication, and coordination challenges</a:t>
            </a:r>
            <a:endParaRPr lang="en-US" sz="15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190" y="4272320"/>
            <a:ext cx="992267" cy="146101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70815" y="447067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Management</a:t>
            </a:r>
            <a:endParaRPr lang="en-US" sz="1950" dirty="0"/>
          </a:p>
        </p:txBody>
      </p:sp>
      <p:sp>
        <p:nvSpPr>
          <p:cNvPr id="10" name="Text 5"/>
          <p:cNvSpPr/>
          <p:nvPr/>
        </p:nvSpPr>
        <p:spPr>
          <a:xfrm>
            <a:off x="7470815" y="4899898"/>
            <a:ext cx="636579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Execution, scheduling, cost estimation, team development, and quality management processes</a:t>
            </a:r>
            <a:endParaRPr lang="en-US" sz="15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0190" y="5733336"/>
            <a:ext cx="992267" cy="146101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70815" y="593169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Agile Methodology</a:t>
            </a:r>
            <a:endParaRPr lang="en-US" sz="1950" dirty="0"/>
          </a:p>
        </p:txBody>
      </p:sp>
      <p:sp>
        <p:nvSpPr>
          <p:cNvPr id="13" name="Text 7"/>
          <p:cNvSpPr/>
          <p:nvPr/>
        </p:nvSpPr>
        <p:spPr>
          <a:xfrm>
            <a:off x="7470815" y="6360914"/>
            <a:ext cx="636579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Documentation practices, requirement specification techniques, and agile-specific processes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0990"/>
            <a:ext cx="658820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Challenge-Solution Mapping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367082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93790" y="2937510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Analysis reveals a </a:t>
            </a:r>
            <a:r>
              <a:rPr lang="en-US" sz="155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significant mismatch</a:t>
            </a: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between where challenges originate and where solutions are focused.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3751183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challenges are rooted in organizational and project management dimensions, yet the majority of solutions target agile methodology improvements.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93790" y="4927044"/>
            <a:ext cx="6279356" cy="1478280"/>
          </a:xfrm>
          <a:prstGeom prst="roundRect">
            <a:avLst>
              <a:gd name="adj" fmla="val 5639"/>
            </a:avLst>
          </a:prstGeom>
          <a:solidFill>
            <a:srgbClr val="D2D2E0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48" y="5222319"/>
            <a:ext cx="248007" cy="1983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8513" y="5174932"/>
            <a:ext cx="5436275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Critical Gap:</a:t>
            </a: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Organizational and business context challenges receive insufficient attention in solution development despite being major sources of problems.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564874" y="2491145"/>
            <a:ext cx="3015615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5150" dirty="0"/>
          </a:p>
        </p:txBody>
      </p:sp>
      <p:sp>
        <p:nvSpPr>
          <p:cNvPr id="10" name="Text 7"/>
          <p:cNvSpPr/>
          <p:nvPr/>
        </p:nvSpPr>
        <p:spPr>
          <a:xfrm>
            <a:off x="7564874" y="3394115"/>
            <a:ext cx="3015615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Agile Methodology Solutions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7564874" y="4212788"/>
            <a:ext cx="30156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Largest portion of solutions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0828496" y="2491145"/>
            <a:ext cx="3015734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5150" dirty="0"/>
          </a:p>
        </p:txBody>
      </p:sp>
      <p:sp>
        <p:nvSpPr>
          <p:cNvPr id="13" name="Text 10"/>
          <p:cNvSpPr/>
          <p:nvPr/>
        </p:nvSpPr>
        <p:spPr>
          <a:xfrm>
            <a:off x="10828496" y="3394115"/>
            <a:ext cx="3015734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Management Solutions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10828496" y="4212788"/>
            <a:ext cx="301573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Moderate coverage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9196626" y="5026343"/>
            <a:ext cx="3015734" cy="654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150"/>
              </a:lnSpc>
              <a:buNone/>
            </a:pPr>
            <a:r>
              <a:rPr lang="en-US" sz="5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5150" dirty="0"/>
          </a:p>
        </p:txBody>
      </p:sp>
      <p:sp>
        <p:nvSpPr>
          <p:cNvPr id="16" name="Text 13"/>
          <p:cNvSpPr/>
          <p:nvPr/>
        </p:nvSpPr>
        <p:spPr>
          <a:xfrm>
            <a:off x="9323546" y="5929313"/>
            <a:ext cx="276189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Organizational Solutions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9196626" y="6437828"/>
            <a:ext cx="301573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Minimal attention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5434" y="437436"/>
            <a:ext cx="7536656" cy="497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Conceptual Framework for Agile Success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4734" y="1252657"/>
            <a:ext cx="9360813" cy="58543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866517" y="3898410"/>
            <a:ext cx="1929918" cy="64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Software Functionalities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349748" y="6373470"/>
            <a:ext cx="1929918" cy="64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Functional &amp; NFRs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9833519" y="3897153"/>
            <a:ext cx="1929918" cy="64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Agile Methodology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349748" y="1339082"/>
            <a:ext cx="1929918" cy="64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5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Organizational Context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565434" y="7285911"/>
            <a:ext cx="11499533" cy="50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framework illustrates that agile software functionality depends on four interconnected factors: organizational context, requirements engineering, agile methodology choice, and project management orchestration. Success requires coordinated attention to all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56573"/>
            <a:ext cx="6080165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Insights &amp; Implications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303770" y="2173486"/>
            <a:ext cx="22860" cy="4899422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519505" y="2385298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091958" y="2173486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166372" y="2210693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3842028" y="224170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Research Saturation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93790" y="2670929"/>
            <a:ext cx="552914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Overwhelming focus on identifying challenges with disproportionately little exploration of solutions. Recent studies find no new challenges, suggesting saturation.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515582" y="3575923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91958" y="3364111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166372" y="3401318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8307467" y="34323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Solution Mismatch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8307467" y="3861554"/>
            <a:ext cx="552914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Most solutions target agile methodology improvements while neglecting organizational and business context challenges that are root causes.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519505" y="4602242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091958" y="4390430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166372" y="4427637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2650093" y="4458653"/>
            <a:ext cx="367284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Orchestrated Approach Needed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93790" y="4887873"/>
            <a:ext cx="552914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Improving agile methods alone cannot solve all problems. Success requires coordinated consideration of organizational setting and project management.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515582" y="5628680"/>
            <a:ext cx="595313" cy="22860"/>
          </a:xfrm>
          <a:prstGeom prst="roundRect">
            <a:avLst>
              <a:gd name="adj" fmla="val 364651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091958" y="5416867"/>
            <a:ext cx="446484" cy="446484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166372" y="5454075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2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307467" y="548509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 Matters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8307467" y="5914311"/>
            <a:ext cx="552914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Organizational complexity and business dynamics must be assessed for agile suitability before adoption. Fit between context and methodology is critical.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53784" y="651629"/>
            <a:ext cx="4176117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Practical Recommendations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7307580" y="1312545"/>
            <a:ext cx="15240" cy="6265426"/>
          </a:xfrm>
          <a:prstGeom prst="roundRect">
            <a:avLst>
              <a:gd name="adj" fmla="val 355436"/>
            </a:avLst>
          </a:prstGeom>
          <a:solidFill>
            <a:srgbClr val="C7C7D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2638544" y="1312545"/>
            <a:ext cx="4661416" cy="1170503"/>
          </a:xfrm>
          <a:prstGeom prst="roundRect">
            <a:avLst>
              <a:gd name="adj" fmla="val 4628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139809" y="1449110"/>
            <a:ext cx="203120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Agile Eligibility Evaluation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775109" y="1727835"/>
            <a:ext cx="4395907" cy="61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 organizational preconditions including multiple objectives, dispersed teams, decision-making structures, and customer resource availability before adopting agile approaches.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30440" y="2740938"/>
            <a:ext cx="4661416" cy="1170503"/>
          </a:xfrm>
          <a:prstGeom prst="rect">
            <a:avLst/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459385" y="2877503"/>
            <a:ext cx="1612106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Vision Articulation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59385" y="3156228"/>
            <a:ext cx="4395907" cy="61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Leadership must clearly communicate vision and goals to all stakeholders, ensuring consistency in understanding requirements and managing dynamic changes.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38544" y="4169331"/>
            <a:ext cx="4661416" cy="964287"/>
          </a:xfrm>
          <a:prstGeom prst="roundRect">
            <a:avLst>
              <a:gd name="adj" fmla="val 56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082540" y="4305895"/>
            <a:ext cx="2088475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Competent Project Teams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75109" y="4584621"/>
            <a:ext cx="4395907" cy="412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 teams with adequate resources, control power, and engaged customers who have sufficient knowledge, time, and positive attitudes.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30440" y="5391507"/>
            <a:ext cx="4661416" cy="964287"/>
          </a:xfrm>
          <a:prstGeom prst="rect">
            <a:avLst/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459385" y="5528072"/>
            <a:ext cx="2151698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NFR Specification Strategy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59385" y="5806797"/>
            <a:ext cx="4395907" cy="412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Initiate non-functional requirements in demonstrable fashion early, engaging users for verification and improvements throughout development.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38544" y="6613684"/>
            <a:ext cx="4661416" cy="964287"/>
          </a:xfrm>
          <a:prstGeom prst="roundRect">
            <a:avLst>
              <a:gd name="adj" fmla="val 5617"/>
            </a:avLst>
          </a:prstGeom>
          <a:solidFill>
            <a:srgbClr val="E1E1EA"/>
          </a:solidFill>
          <a:ln w="7620">
            <a:solidFill>
              <a:srgbClr val="C7C7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895493" y="6750248"/>
            <a:ext cx="227552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55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Methodology Improvements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775109" y="7028974"/>
            <a:ext cx="4395907" cy="412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 advancing agile practices in documentation, traceability, testing, prioritization, and handling implicit requirements and constant changes.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7813" y="365760"/>
            <a:ext cx="4884063" cy="415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Conclusions &amp; Future Directions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507813" y="1113830"/>
            <a:ext cx="1995130" cy="249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Contributions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2507813" y="1496258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Three-dimensional classification of challenges and solutions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507813" y="1755458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Identification of challenge-solution mismatch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507813" y="2014657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Conceptual framework for orchestrated approach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07813" y="2273856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Shift from challenge identification to relationship exploration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07813" y="2619613"/>
            <a:ext cx="1995130" cy="249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Study Limitations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507813" y="3002042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Limited scope to requirements engineering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07813" y="3261241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Subjective classification analysis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7813" y="3520440"/>
            <a:ext cx="4645104" cy="2127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65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Framework requires empirical validation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84864" y="1113830"/>
            <a:ext cx="2348984" cy="249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Future Research Avenues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484864" y="1496258"/>
            <a:ext cx="4645104" cy="63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Shift focus from studying challenges to examining influential elements and their relationships. Investigate effectiveness and efficiency of agile practices in different contexts.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84294" y="2284095"/>
            <a:ext cx="4445675" cy="638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"Agile requirement engineering challenges are not all rooted in methodology deficiencies. Success requires supporting organizational settings coupled with appropriate project management."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84864" y="2284095"/>
            <a:ext cx="15240" cy="638294"/>
          </a:xfrm>
          <a:prstGeom prst="rect">
            <a:avLst/>
          </a:prstGeom>
          <a:solidFill>
            <a:srgbClr val="1B1B27"/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864" y="3071932"/>
            <a:ext cx="4645104" cy="46451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28442" y="36218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Luong, T.T.; Sivarajah, U.; Weerakkody, V. Do agile managed information systems projects fail due to a lack of emotional intelligence?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Syst. Front.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2021, 23, 415–433.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3728442" y="71401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Xu, Y.; Koivumäki, T. Digital business model effectuation: An agile approach.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Comput. Hum. Behav.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95, 307–314.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728442" y="90725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Janssen, M.; van der Voort, H. Agile and adaptive governance in crisis response: Lessons from the COVID-19 pandemic.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Int. J. Inf. Manag.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2020, 55, 102180.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728442" y="110049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Torrecilla-Salinas, C.J.; Sedeño, J.; Escalona, M.J.; Mejías, M. Estimating, planning and managing agile web development projects under a value-based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61, 124–144.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728442" y="145232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Manifesto for Agile Software Development.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http://agilemanifesto.org/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728442" y="164556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Alsaqaf, W.; Daneva, M.; Wieringa, R. Agile quality requirements engineering challenges: First results from a case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IEEE International Symposium on Empirical Software Engineering and Measurement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Toronto, ON, Canada, 9–10 November 2017; pp. 454–459.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728442" y="199739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Mersino, A. Agile Project Success Rates Are 2X Higher than Traditional Projects.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728442" y="219063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Rehman, A.U.; Nawaz, A.; Ali, M.T.; Abbas, M. A Comparative Study of Agile Methods, Testing Challenges, Solutions &amp; Tool Support.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14th International Conference on Open Source Systems and Technologies (ICOSST)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Lahore, Pakistan, 16–17 December 2020; pp. 1–5.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728442" y="254246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Govil, N.; Sharma, A. Information extraction on requirements prioritization approaches in agile software development processes.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5th International Conference on Computing Methodologies and Communication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Erode, India, 8–10 April 2021; pp. 1097–1100.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28442" y="28942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Cao, L.; Baskerville, R. Agile requirements engineering practices and challenges: An empirical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Syst.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2010, 20, 449–480.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728442" y="308752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Hoy, E.; Xu, P. Mapping the Research Landscape of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Trans.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2023, 49, 1–19.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728442" y="32807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Paasivaara, M.; Lassenius, C.; Hallikainen, M. Scaling agile to distributed projects: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114–129.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728442" y="347400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Sveen, F.O.; Torkar, R. A systematic literature review on challenges and success factors in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150, 115–129.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728442" y="366724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Begel, A.; Nagappan, N. Usage and perception of agile software development in industry: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153, 1–17.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728442" y="386048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Verner, J.M.; Brereton, O.P.; Kitchenham, B.A.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128–142.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728442" y="405372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Dingsøyr, T.; Lassenius, C.; Paasivaara, M. Current research on agile software development—An industrial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1–12.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728442" y="424695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Cao, L.; Ramesh, B.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2013, 55, 991–1007.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728442" y="444019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Qumer, A.; Henderson, B. A comparative study of agile software development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Softw. Eng. Res. Dev.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1, 1–18.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728442" y="463343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Schwaber,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Project Management with Scrum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Microsoft Press: Redmond, WA, USA, 2004.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728442" y="482667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Beck,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Extreme Programming Explained: Embrace Change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1999.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28442" y="501991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Cohn, M.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Stories Applied: For 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28442" y="521315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Larman, 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and Iterative Development: A Manager’s Guide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28442" y="54063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Highsmith, J.A.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 Ecosystems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2002.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728442" y="55996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Kruchten, P. The Rational Unified Process—An Introduction. Addison-Wesley Professional: Boston, MA, USA, 2000.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728442" y="57928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Boehm, B. A spiral model of software development and enhancement.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Computer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1988, 21, 61–72.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728442" y="598610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Cockburn, 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2001.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28442" y="617934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Poppendieck, M.; Poppendieck, 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Lean Software Development: An Agile Toolkit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2003.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728442" y="637258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Rising, L.; Janoff, N. The Scrum Handbook: A Guide to the Agile Software Development Process. Addison-Wesley Professional: Boston, MA, USA, 2000.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728442" y="656582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Sutherland, J.; Schwaber, K. The Scrum Guide.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https://www.scrum.org/resources/scrum-guide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728442" y="675905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Royce, W.W. Managing the development of large software systems: Concepts and techniques.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9th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Monterey, CA, USA, 30 March–2 April 1987; pp. 328–338.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728442" y="711088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Stake, R.E.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Art of Case Study Research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1995.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728442" y="730412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Yin, R.K.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Case Study Research: Design and Methods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2018.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728442" y="749736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Kitchenham, B.; Charters, S. Guidelines for performing systematic literature reviews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Eng. Softw. Artic.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2007, 2, 1051–1058.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728442" y="769060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Wohlin, C.; Runeson, P.; Host, M.; Rainer, A.; Regnell, B.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Experimentation in Software Engineering: An Introduction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2012.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728442" y="788384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Petersen, K.; Vakkalanka, S.; Kuzniarz, L.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Guidelines for Conducting Systematic Mapping Studies in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IEEE Press: Piscataway, NJ, USA, 2008.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728442" y="823567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Runeson, P.; Höst, M. Guidelines for conducting and reporting case study research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2009, 14, 131–164.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728442" y="842891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Feltz, C.; Petersen, K. A systematic literature review on agile software development success factors.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63, 1–16.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3728442" y="862214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13th International Conference on Software Engineering and Knowledge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Buenos Aires, Argentina, 11–13 July 2001; pp. 581–588.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728442" y="897397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3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Abrahamsson, P.; Warsta, J.; Siponen, M.T.; Ronkainen, J. New directions on agile methods: A comparative analysis.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244–253.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728442" y="932580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Nerur, S.; Mahapatra, R.; Mangalaraj, S. Challenges of migrating to agile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Commun. ACM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2005, 48, 72–78.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728442" y="951904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Conboy,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of Agile Software Development Success Factors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2009; pp. 1–15.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728442" y="971228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Picard, R.; Abdessalem, T. Requirements engineering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11th International Conference on Software Engineering Research, Management and Applications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Paris, France, 26–28 August 2013; pp. 143–150.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3728442" y="1006411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Kautz, K.; Kock, S. Challenges and success factors for agile software development in large organizations.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1–13.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728442" y="1025735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Social and psychological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35th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San Francisco, CA, USA, 18–26 May 2013; pp. 62–71.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728442" y="1060918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3728442" y="1080242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development in a distributed environment: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104–119.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728442" y="1099566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What do we know about agile software development?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25, 6–9.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728442" y="1118889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Chow, J.; Cao, L. A survey of agile development methodologies.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2008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Beijing, China, 10–18 May 2008; pp. 138–147.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3728442" y="115407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4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VersionOne.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 of Agile Report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VersionOne: Alpharetta, GA, USA, 2021.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3728442" y="117339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728442" y="1192720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Inayat, I.; Salim, S.S.; Marczak, S.; Daneva, M.; Shamshirband, S. A systematic literature review on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62, 126–139.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3728442" y="1227903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Fernández, C.; Fernández, S.; Genero, M. A systematic literature review on the effectiveness of agile software development methods.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85, 1–18.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728442" y="1263086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Dyba, T.; Dingsøyr, T. Strength of evidence in agile software development research.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2011, 16, 755–783.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728442" y="1282410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Empirical evidence on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680–699.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3728442" y="1301734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Pekkola, S.; Salo, O. Agile requirements engineering: A review of current research and future directions.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2016, 111, 316–331.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3728442" y="1321058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An empirical study of the impact of social factors on agile teams.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22, 1079–1110.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3728442" y="1340381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11–20.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3728442" y="1375564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3728442" y="1394888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5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3728442" y="1414212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Alsaqaf, W.; Daneva, M.; Wieringa, R. Agile quality requirements engineering challenges: First results from a case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IEEE International Symposium on Empirical Software Engineering and Measurement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Toronto, ON, Canada, 9–10 November 2017; pp. 454–459.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3728442" y="144939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Paasivaara, M.; Lassenius, C.; Hallikainen, M. Scaling agile to distributed projects: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114–129.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3728442" y="1468719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Sveen, F.O.; Torkar, R. A systematic literature review on challenges and success factors in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150, 115–129.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3728442" y="1488043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Begel, A.; Nagappan, N. Usage and perception of agile software development in industry: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153, 1–17.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3728442" y="1507367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Verner, J.M.; Brereton, O.P.; Kitchenham, B.A.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128–142.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728442" y="1526690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Dingsøyr, T.; Lassenius, C.; Paasivaara, M. Current research on agile software development—An industrial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1–12.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3728442" y="1546014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Cao, L.; Ramesh, B.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2013, 55, 991–1007.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3728442" y="1565338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Qumer, A.; Henderson, B. A comparative study of agile software development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Softw. Eng. Res. Dev.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1, 1–18.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3728442" y="1584662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Schwaber,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Project Management with Scrum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Microsoft Press: Redmond, WA, USA, 2004.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3728442" y="1603986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6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Beck,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Extreme Programming Explained: Embrace Change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1999.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3728442" y="1623310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Cohn, M.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Stories Applied: For 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728442" y="1642633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Larman, 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and Iterative Development: A Manager’s Guide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3728442" y="1661957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Highsmith, J.A.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 Ecosystems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2002.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3728442" y="1681281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Kruchten, P. The Rational Unified Process—An Introduction. Addison-Wesley Professional: Boston, MA, USA, 2000.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728442" y="170060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Boehm, B. A spiral model of software development and enhancement.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Computer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1988, 21, 61–72.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3728442" y="1719929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Cockburn, 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2001.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3728442" y="1739253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Poppendieck, M.; Poppendieck, 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Lean Software Development: An Agile Toolkit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2003.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3728442" y="1758576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Rising, L.; Janoff, N. The Scrum Handbook: A Guide to the Agile Software Development Process. Addison-Wesley Professional: Boston, MA, USA, 2000.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3728442" y="1777900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Sutherland, J.; Schwaber, K. The Scrum Guide.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https://www.scrum.org/resources/scrum-guide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3728442" y="1797224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7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Royce, W.W. Managing the development of large software systems: Concepts and techniques.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9th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Monterey, CA, USA, 30 March–2 April 1987; pp. 328–338.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728442" y="1832407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Stake, R.E.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Art of Case Study Research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1995.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3728442" y="1851731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Yin, R.K.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Case Study Research: Design and Methods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2018.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728442" y="1871055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Kitchenham, B.; Charters, S. Guidelines for performing systematic literature reviews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Eng. Softw. Artic.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2007, 2, 1051–1058.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3728442" y="1890379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Wohlin, C.; Runeson, P.; Host, M.; Rainer, A.; Regnell, B.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Experimentation in Software Engineering: An Introduction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2012.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3728442" y="19097030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Petersen, K.; Vakkalanka, S.; Kuzniarz, L.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Guidelines for Conducting Systematic Mapping Studies in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IEEE Press: Piscataway, NJ, USA, 2008.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728442" y="1944885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Runeson, P.; Höst, M. Guidelines for conducting and reporting case study research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2009, 14, 131–164.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3728442" y="1964209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Feltz, C.; Petersen, K. A systematic literature review on agile software development success factors.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63, 1–16.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3728442" y="1983533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13th International Conference on Software Engineering and Knowledge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Buenos Aires, Argentina, 11–13 July 2001; pp. 581–588.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3728442" y="2018716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Abrahamsson, P.; Warsta, J.; Siponen, M.T.; Ronkainen, J. New directions on agile methods: A comparative analysis.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244–253.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728442" y="2053899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8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Nerur, S.; Mahapatra, R.; Mangalaraj, S. Challenges of migrating to agile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Commun. ACM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2005, 48, 72–78.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3728442" y="2073223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Conboy,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of Agile Software Development Success Factors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2009; pp. 1–15.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3728442" y="2092547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Picard, R.; Abdessalem, T. Requirements engineering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11th International Conference on Software Engineering Research, Management and Applications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Paris, France, 26–28 August 2013; pp. 143–150.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3728442" y="2127730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Kautz, K.; Kock, S. Challenges and success factors for agile software development in large organizations.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1–13.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3728442" y="2147054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Social and psychological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35th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San Francisco, CA, USA, 18–26 May 2013; pp. 62–71.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3728442" y="2182237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3728442" y="2201560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development in a distributed environment: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104–119.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728442" y="2220884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What do we know about agile software development?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25, 6–9.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3728442" y="2240208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Chow, J.; Cao, L. A survey of agile development methodologies.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2008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Beijing, China, 10–18 May 2008; pp. 138–147.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3728442" y="2275391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VersionOne.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 of Agile Report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VersionOne: Alpharetta, GA, USA, 2021.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728442" y="229471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9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3728442" y="23140392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Inayat, I.; Salim, S.S.; Marczak, S.; Daneva, M.; Shamshirband, S. A systematic literature review on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62, 126–139.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3728442" y="23492222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Fernández, C.; Fernández, S.; Genero, M. A systematic literature review on the effectiveness of agile software development methods.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85, 1–18.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3728442" y="2384405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Dyba, T.; Dingsøyr, T. Strength of evidence in agile software development research.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2011, 16, 755–783.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3728442" y="240372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Empirical evidence on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680–699.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3728442" y="242305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Pekkola, S.; Salo, O. Agile requirements engineering: A review of current research and future directions.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2016, 111, 316–331.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3728442" y="244237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An empirical study of the impact of social factors on agile teams.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22, 1079–1110.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3728442" y="2461700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11–20.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3728442" y="2496883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3728442" y="2516207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3728442" y="25355312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0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Alsaqaf, W.; Daneva, M.; Wieringa, R. Agile quality requirements engineering challenges: First results from a case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IEEE International Symposium on Empirical Software Engineering and Measurement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Toronto, ON, Canada, 9–10 November 2017; pp. 454–459.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3728442" y="2570714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Paasivaara, M.; Lassenius, C.; Hallikainen, M. Scaling agile to distributed projects: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114–129.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3728442" y="2590038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Sveen, F.O.; Torkar, R. A systematic literature review on challenges and success factors in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150, 115–129.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3728442" y="2609361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Begel, A.; Nagappan, N. Usage and perception of agile software development in industry: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153, 1–17.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3728442" y="2628685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Verner, J.M.; Brereton, O.P.; Kitchenham, B.A.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128–142.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3728442" y="2648009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Dingsøyr, T.; Lassenius, C.; Paasivaara, M. Current research on agile software development—An industrial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1–12.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3728442" y="2667333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Cao, L.; Ramesh, B.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2013, 55, 991–1007.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3728442" y="2686657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Qumer, A.; Henderson, B. A comparative study of agile software development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Softw. Eng. Res. Dev.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1, 1–18.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3728442" y="2705981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Schwaber,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Project Management with Scrum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Microsoft Press: Redmond, WA, USA, 2004.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3728442" y="2725304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Beck,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Extreme Programming Explained: Embrace Change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1999.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3728442" y="2744628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1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Cohn, M.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Stories Applied: For 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3728442" y="2763952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Larman, 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and Iterative Development: A Manager’s Guide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3728442" y="2783276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Highsmith, J.A.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 Ecosystems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2002.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3728442" y="2802600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Kruchten, P. The Rational Unified Process—An Introduction. Addison-Wesley Professional: Boston, MA, USA, 2000.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3728442" y="2821924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Boehm, B. A spiral model of software development and enhancement.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Computer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1988, 21, 61–72.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3728442" y="2841248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Cockburn, 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2001.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3728442" y="2860571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Poppendieck, M.; Poppendieck, 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Lean Software Development: An Agile Toolkit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2003.</a:t>
            </a:r>
            <a:endParaRPr lang="en-US" sz="750" dirty="0"/>
          </a:p>
        </p:txBody>
      </p:sp>
      <p:sp>
        <p:nvSpPr>
          <p:cNvPr id="127" name="Text 125"/>
          <p:cNvSpPr/>
          <p:nvPr/>
        </p:nvSpPr>
        <p:spPr>
          <a:xfrm>
            <a:off x="3728442" y="2879895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Rising, L.; Janoff, N. The Scrum Handbook: A Guide to the Agile Software Development Process. Addison-Wesley Professional: Boston, MA, USA, 2000.</a:t>
            </a:r>
            <a:endParaRPr lang="en-US" sz="750" dirty="0"/>
          </a:p>
        </p:txBody>
      </p:sp>
      <p:sp>
        <p:nvSpPr>
          <p:cNvPr id="128" name="Text 126"/>
          <p:cNvSpPr/>
          <p:nvPr/>
        </p:nvSpPr>
        <p:spPr>
          <a:xfrm>
            <a:off x="3728442" y="2899219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Sutherland, J.; Schwaber, K. The Scrum Guide.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https://www.scrum.org/resources/scrum-guide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3728442" y="2918543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Royce, W.W. Managing the development of large software systems: Concepts and techniques.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9th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Monterey, CA, USA, 30 March–2 April 1987; pp. 328–338.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3728442" y="2953726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2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Stake, R.E.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Art of Case Study Research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1995.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3728442" y="2973050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Yin, R.K.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Case Study Research: Design and Methods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2018.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3728442" y="2992374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Kitchenham, B.; Charters, S. Guidelines for performing systematic literature reviews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Eng. Softw. Artic.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2007, 2, 1051–1058.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3728442" y="3011697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Wohlin, C.; Runeson, P.; Host, M.; Rainer, A.; Regnell, B.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Experimentation in Software Engineering: An Introduction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2012.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3728442" y="30310217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Petersen, K.; Vakkalanka, S.; Kuzniarz, L.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Guidelines for Conducting Systematic Mapping Studies in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IEEE Press: Piscataway, NJ, USA, 2008.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3728442" y="3066204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Runeson, P.; Höst, M. Guidelines for conducting and reporting case study research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2009, 14, 131–164.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3728442" y="3085528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Feltz, C.; Petersen, K. A systematic literature review on agile software development success factors.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63, 1–16.</a:t>
            </a:r>
            <a:endParaRPr lang="en-US" sz="750" dirty="0"/>
          </a:p>
        </p:txBody>
      </p:sp>
      <p:sp>
        <p:nvSpPr>
          <p:cNvPr id="137" name="Text 135"/>
          <p:cNvSpPr/>
          <p:nvPr/>
        </p:nvSpPr>
        <p:spPr>
          <a:xfrm>
            <a:off x="3728442" y="3104852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13th International Conference on Software Engineering and Knowledge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Buenos Aires, Argentina, 11–13 July 2001; pp. 581–588.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3728442" y="3140035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Abrahamsson, P.; Warsta, J.; Siponen, M.T.; Ronkainen, J. New directions on agile methods: A comparative analysis.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244–253.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3728442" y="3175218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Nerur, S.; Mahapatra, R.; Mangalaraj, S. Challenges of migrating to agile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Commun. ACM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2005, 48, 72–78.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3728442" y="3194542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3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Conboy,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of Agile Software Development Success Factors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2009; pp. 1–15.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3728442" y="32138660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Picard, R.; Abdessalem, T. Requirements engineering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11th International Conference on Software Engineering Research, Management and Applications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Paris, France, 26–28 August 2013; pp. 143–150.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3728442" y="3249048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Kautz, K.; Kock, S. Challenges and success factors for agile software development in large organizations.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1–13.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3728442" y="3268372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Social and psychological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35th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San Francisco, CA, USA, 18–26 May 2013; pp. 62–71.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3728442" y="3303555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3728442" y="3322879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development in a distributed environment: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104–119.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3728442" y="3342203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What do we know about agile software development?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25, 6–9.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3728442" y="3361527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Chow, J.; Cao, L. A survey of agile development methodologies.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2008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Beijing, China, 10–18 May 2008; pp. 138–147.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3728442" y="3396710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VersionOne.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 of Agile Report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VersionOne: Alpharetta, GA, USA, 2021.</a:t>
            </a:r>
            <a:endParaRPr lang="en-US" sz="750" dirty="0"/>
          </a:p>
        </p:txBody>
      </p:sp>
      <p:sp>
        <p:nvSpPr>
          <p:cNvPr id="149" name="Text 147"/>
          <p:cNvSpPr/>
          <p:nvPr/>
        </p:nvSpPr>
        <p:spPr>
          <a:xfrm>
            <a:off x="3728442" y="3416034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3728442" y="3435357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4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Inayat, I.; Salim, S.S.; Marczak, S.; Daneva, M.; Shamshirband, S. A systematic literature review on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62, 126–139.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3728442" y="3470540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Fernández, C.; Fernández, S.; Genero, M. A systematic literature review on the effectiveness of agile software development methods.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85, 1–18.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3728442" y="3505723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Dyba, T.; Dingsøyr, T. Strength of evidence in agile software development research.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2011, 16, 755–783.</a:t>
            </a:r>
            <a:endParaRPr lang="en-US" sz="750" dirty="0"/>
          </a:p>
        </p:txBody>
      </p:sp>
      <p:sp>
        <p:nvSpPr>
          <p:cNvPr id="153" name="Text 151"/>
          <p:cNvSpPr/>
          <p:nvPr/>
        </p:nvSpPr>
        <p:spPr>
          <a:xfrm>
            <a:off x="3728442" y="3525047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Empirical evidence on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680–699.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3728442" y="3544371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Pekkola, S.; Salo, O. Agile requirements engineering: A review of current research and future directions.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2016, 111, 316–331.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3728442" y="356369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An empirical study of the impact of social factors on agile teams.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22, 1079–1110.</a:t>
            </a:r>
            <a:endParaRPr lang="en-US" sz="750" dirty="0"/>
          </a:p>
        </p:txBody>
      </p:sp>
      <p:sp>
        <p:nvSpPr>
          <p:cNvPr id="156" name="Text 154"/>
          <p:cNvSpPr/>
          <p:nvPr/>
        </p:nvSpPr>
        <p:spPr>
          <a:xfrm>
            <a:off x="3728442" y="3583019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11–20.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3728442" y="3618202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3728442" y="3637526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159" name="Text 157"/>
          <p:cNvSpPr/>
          <p:nvPr/>
        </p:nvSpPr>
        <p:spPr>
          <a:xfrm>
            <a:off x="3728442" y="36568499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Alsaqaf, W.; Daneva, M.; Wieringa, R. Agile quality requirements engineering challenges: First results from a case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IEEE International Symposium on Empirical Software Engineering and Measurement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Toronto, ON, Canada, 9–10 November 2017; pp. 454–459.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3728442" y="3692032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5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Paasivaara, M.; Lassenius, C.; Hallikainen, M. Scaling agile to distributed projects: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114–129.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3728442" y="371135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Sveen, F.O.; Torkar, R. A systematic literature review on challenges and success factors in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150, 115–129.</a:t>
            </a:r>
            <a:endParaRPr lang="en-US" sz="750" dirty="0"/>
          </a:p>
        </p:txBody>
      </p:sp>
      <p:sp>
        <p:nvSpPr>
          <p:cNvPr id="162" name="Text 160"/>
          <p:cNvSpPr/>
          <p:nvPr/>
        </p:nvSpPr>
        <p:spPr>
          <a:xfrm>
            <a:off x="3728442" y="3730680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Begel, A.; Nagappan, N. Usage and perception of agile software development in industry: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153, 1–17.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3728442" y="3750004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Verner, J.M.; Brereton, O.P.; Kitchenham, B.A.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128–142.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3728442" y="3769328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Dingsøyr, T.; Lassenius, C.; Paasivaara, M. Current research on agile software development—An industrial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1–12.</a:t>
            </a:r>
            <a:endParaRPr lang="en-US" sz="750" dirty="0"/>
          </a:p>
        </p:txBody>
      </p:sp>
      <p:sp>
        <p:nvSpPr>
          <p:cNvPr id="165" name="Text 163"/>
          <p:cNvSpPr/>
          <p:nvPr/>
        </p:nvSpPr>
        <p:spPr>
          <a:xfrm>
            <a:off x="3728442" y="3788652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Cao, L.; Ramesh, B.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2013, 55, 991–1007.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3728442" y="3807975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Qumer, A.; Henderson, B. A comparative study of agile software development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Softw. Eng. Res. Dev.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1, 1–18.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3728442" y="3827299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Schwaber,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Project Management with Scrum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Microsoft Press: Redmond, WA, USA, 2004.</a:t>
            </a:r>
            <a:endParaRPr lang="en-US" sz="750" dirty="0"/>
          </a:p>
        </p:txBody>
      </p:sp>
      <p:sp>
        <p:nvSpPr>
          <p:cNvPr id="168" name="Text 166"/>
          <p:cNvSpPr/>
          <p:nvPr/>
        </p:nvSpPr>
        <p:spPr>
          <a:xfrm>
            <a:off x="3728442" y="3846623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Beck,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Extreme Programming Explained: Embrace Change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1999.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3728442" y="3865947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Cohn, M.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Stories Applied: For 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3728442" y="3885271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6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Larman, 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and Iterative Development: A Manager’s Guide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171" name="Text 169"/>
          <p:cNvSpPr/>
          <p:nvPr/>
        </p:nvSpPr>
        <p:spPr>
          <a:xfrm>
            <a:off x="3728442" y="3904595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Highsmith, J.A.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 Ecosystems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2002.</a:t>
            </a:r>
            <a:endParaRPr lang="en-US" sz="750" dirty="0"/>
          </a:p>
        </p:txBody>
      </p:sp>
      <p:sp>
        <p:nvSpPr>
          <p:cNvPr id="172" name="Text 170"/>
          <p:cNvSpPr/>
          <p:nvPr/>
        </p:nvSpPr>
        <p:spPr>
          <a:xfrm>
            <a:off x="3728442" y="392391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Kruchten, P. The Rational Unified Process—An Introduction. Addison-Wesley Professional: Boston, MA, USA, 2000.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3728442" y="394324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Boehm, B. A spiral model of software development and enhancement.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Computer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1988, 21, 61–72.</a:t>
            </a:r>
            <a:endParaRPr lang="en-US" sz="750" dirty="0"/>
          </a:p>
        </p:txBody>
      </p:sp>
      <p:sp>
        <p:nvSpPr>
          <p:cNvPr id="174" name="Text 172"/>
          <p:cNvSpPr/>
          <p:nvPr/>
        </p:nvSpPr>
        <p:spPr>
          <a:xfrm>
            <a:off x="3728442" y="3962566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Cockburn, 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2001.</a:t>
            </a:r>
            <a:endParaRPr lang="en-US" sz="750" dirty="0"/>
          </a:p>
        </p:txBody>
      </p:sp>
      <p:sp>
        <p:nvSpPr>
          <p:cNvPr id="175" name="Text 173"/>
          <p:cNvSpPr/>
          <p:nvPr/>
        </p:nvSpPr>
        <p:spPr>
          <a:xfrm>
            <a:off x="3728442" y="3981890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Poppendieck, M.; Poppendieck, 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Lean Software Development: An Agile Toolkit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2003.</a:t>
            </a:r>
            <a:endParaRPr lang="en-US" sz="750" dirty="0"/>
          </a:p>
        </p:txBody>
      </p:sp>
      <p:sp>
        <p:nvSpPr>
          <p:cNvPr id="176" name="Text 174"/>
          <p:cNvSpPr/>
          <p:nvPr/>
        </p:nvSpPr>
        <p:spPr>
          <a:xfrm>
            <a:off x="3728442" y="4001214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Rising, L.; Janoff, N. The Scrum Handbook: A Guide to the Agile Software Development Process. Addison-Wesley Professional: Boston, MA, USA, 2000.</a:t>
            </a:r>
            <a:endParaRPr lang="en-US" sz="750" dirty="0"/>
          </a:p>
        </p:txBody>
      </p:sp>
      <p:sp>
        <p:nvSpPr>
          <p:cNvPr id="177" name="Text 175"/>
          <p:cNvSpPr/>
          <p:nvPr/>
        </p:nvSpPr>
        <p:spPr>
          <a:xfrm>
            <a:off x="3728442" y="4020538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Sutherland, J.; Schwaber, K. The Scrum Guide.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https://www.scrum.org/resources/scrum-guide</a:t>
            </a:r>
            <a:endParaRPr lang="en-US" sz="750" dirty="0"/>
          </a:p>
        </p:txBody>
      </p:sp>
      <p:sp>
        <p:nvSpPr>
          <p:cNvPr id="178" name="Text 176"/>
          <p:cNvSpPr/>
          <p:nvPr/>
        </p:nvSpPr>
        <p:spPr>
          <a:xfrm>
            <a:off x="3728442" y="4039862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Royce, W.W. Managing the development of large software systems: Concepts and techniques.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9th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Monterey, CA, USA, 30 March–2 April 1987; pp. 328–338.</a:t>
            </a:r>
            <a:endParaRPr lang="en-US" sz="750" dirty="0"/>
          </a:p>
        </p:txBody>
      </p:sp>
      <p:sp>
        <p:nvSpPr>
          <p:cNvPr id="179" name="Text 177"/>
          <p:cNvSpPr/>
          <p:nvPr/>
        </p:nvSpPr>
        <p:spPr>
          <a:xfrm>
            <a:off x="3728442" y="4075045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Stake, R.E.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Art of Case Study Research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1995.</a:t>
            </a:r>
            <a:endParaRPr lang="en-US" sz="750" dirty="0"/>
          </a:p>
        </p:txBody>
      </p:sp>
      <p:sp>
        <p:nvSpPr>
          <p:cNvPr id="180" name="Text 178"/>
          <p:cNvSpPr/>
          <p:nvPr/>
        </p:nvSpPr>
        <p:spPr>
          <a:xfrm>
            <a:off x="3728442" y="4094368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7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Yin, R.K.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Case Study Research: Design and Methods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2018.</a:t>
            </a:r>
            <a:endParaRPr lang="en-US" sz="750" dirty="0"/>
          </a:p>
        </p:txBody>
      </p:sp>
      <p:sp>
        <p:nvSpPr>
          <p:cNvPr id="181" name="Text 179"/>
          <p:cNvSpPr/>
          <p:nvPr/>
        </p:nvSpPr>
        <p:spPr>
          <a:xfrm>
            <a:off x="3728442" y="4113692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Kitchenham, B.; Charters, S. Guidelines for performing systematic literature reviews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Eng. Softw. Artic.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2007, 2, 1051–1058.</a:t>
            </a:r>
            <a:endParaRPr lang="en-US" sz="750" dirty="0"/>
          </a:p>
        </p:txBody>
      </p:sp>
      <p:sp>
        <p:nvSpPr>
          <p:cNvPr id="182" name="Text 180"/>
          <p:cNvSpPr/>
          <p:nvPr/>
        </p:nvSpPr>
        <p:spPr>
          <a:xfrm>
            <a:off x="3728442" y="4133016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Wohlin, C.; Runeson, P.; Host, M.; Rainer, A.; Regnell, B.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Experimentation in Software Engineering: An Introduction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2012.</a:t>
            </a:r>
            <a:endParaRPr lang="en-US" sz="750" dirty="0"/>
          </a:p>
        </p:txBody>
      </p:sp>
      <p:sp>
        <p:nvSpPr>
          <p:cNvPr id="183" name="Text 181"/>
          <p:cNvSpPr/>
          <p:nvPr/>
        </p:nvSpPr>
        <p:spPr>
          <a:xfrm>
            <a:off x="3728442" y="41523404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Petersen, K.; Vakkalanka, S.; Kuzniarz, L.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Guidelines for Conducting Systematic Mapping Studies in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IEEE Press: Piscataway, NJ, USA, 2008.</a:t>
            </a:r>
            <a:endParaRPr lang="en-US" sz="750" dirty="0"/>
          </a:p>
        </p:txBody>
      </p:sp>
      <p:sp>
        <p:nvSpPr>
          <p:cNvPr id="184" name="Text 182"/>
          <p:cNvSpPr/>
          <p:nvPr/>
        </p:nvSpPr>
        <p:spPr>
          <a:xfrm>
            <a:off x="3728442" y="4187523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Runeson, P.; Höst, M. Guidelines for conducting and reporting case study research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2009, 14, 131–164.</a:t>
            </a:r>
            <a:endParaRPr lang="en-US" sz="750" dirty="0"/>
          </a:p>
        </p:txBody>
      </p:sp>
      <p:sp>
        <p:nvSpPr>
          <p:cNvPr id="185" name="Text 183"/>
          <p:cNvSpPr/>
          <p:nvPr/>
        </p:nvSpPr>
        <p:spPr>
          <a:xfrm>
            <a:off x="3728442" y="4206847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Feltz, C.; Petersen, K. A systematic literature review on agile software development success factors.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63, 1–16.</a:t>
            </a:r>
            <a:endParaRPr lang="en-US" sz="750" dirty="0"/>
          </a:p>
        </p:txBody>
      </p:sp>
      <p:sp>
        <p:nvSpPr>
          <p:cNvPr id="186" name="Text 184"/>
          <p:cNvSpPr/>
          <p:nvPr/>
        </p:nvSpPr>
        <p:spPr>
          <a:xfrm>
            <a:off x="3728442" y="4226171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13th International Conference on Software Engineering and Knowledge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Buenos Aires, Argentina, 11–13 July 2001; pp. 581–588.</a:t>
            </a:r>
            <a:endParaRPr lang="en-US" sz="750" dirty="0"/>
          </a:p>
        </p:txBody>
      </p:sp>
      <p:sp>
        <p:nvSpPr>
          <p:cNvPr id="187" name="Text 185"/>
          <p:cNvSpPr/>
          <p:nvPr/>
        </p:nvSpPr>
        <p:spPr>
          <a:xfrm>
            <a:off x="3728442" y="42613540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Abrahamsson, P.; Warsta, J.; Siponen, M.T.; Ronkainen, J. New directions on agile methods: A comparative analysis.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244–253.</a:t>
            </a:r>
            <a:endParaRPr lang="en-US" sz="750" dirty="0"/>
          </a:p>
        </p:txBody>
      </p:sp>
      <p:sp>
        <p:nvSpPr>
          <p:cNvPr id="188" name="Text 186"/>
          <p:cNvSpPr/>
          <p:nvPr/>
        </p:nvSpPr>
        <p:spPr>
          <a:xfrm>
            <a:off x="3728442" y="4296537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Nerur, S.; Mahapatra, R.; Mangalaraj, S. Challenges of migrating to agile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Commun. ACM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2005, 48, 72–78.</a:t>
            </a:r>
            <a:endParaRPr lang="en-US" sz="750" dirty="0"/>
          </a:p>
        </p:txBody>
      </p:sp>
      <p:sp>
        <p:nvSpPr>
          <p:cNvPr id="189" name="Text 187"/>
          <p:cNvSpPr/>
          <p:nvPr/>
        </p:nvSpPr>
        <p:spPr>
          <a:xfrm>
            <a:off x="3728442" y="4315860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Conboy,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of Agile Software Development Success Factors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2009; pp. 1–15.</a:t>
            </a:r>
            <a:endParaRPr lang="en-US" sz="750" dirty="0"/>
          </a:p>
        </p:txBody>
      </p:sp>
      <p:sp>
        <p:nvSpPr>
          <p:cNvPr id="190" name="Text 188"/>
          <p:cNvSpPr/>
          <p:nvPr/>
        </p:nvSpPr>
        <p:spPr>
          <a:xfrm>
            <a:off x="3728442" y="43351847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8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Picard, R.; Abdessalem, T. Requirements engineering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11th International Conference on Software Engineering Research, Management and Applications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Paris, France, 26–28 August 2013; pp. 143–150.</a:t>
            </a:r>
            <a:endParaRPr lang="en-US" sz="750" dirty="0"/>
          </a:p>
        </p:txBody>
      </p:sp>
      <p:sp>
        <p:nvSpPr>
          <p:cNvPr id="191" name="Text 189"/>
          <p:cNvSpPr/>
          <p:nvPr/>
        </p:nvSpPr>
        <p:spPr>
          <a:xfrm>
            <a:off x="3728442" y="4370367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Kautz, K.; Kock, S. Challenges and success factors for agile software development in large organizations.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1–13.</a:t>
            </a:r>
            <a:endParaRPr lang="en-US" sz="750" dirty="0"/>
          </a:p>
        </p:txBody>
      </p:sp>
      <p:sp>
        <p:nvSpPr>
          <p:cNvPr id="192" name="Text 190"/>
          <p:cNvSpPr/>
          <p:nvPr/>
        </p:nvSpPr>
        <p:spPr>
          <a:xfrm>
            <a:off x="3728442" y="43896915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Social and psychological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35th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San Francisco, CA, USA, 18–26 May 2013; pp. 62–71.</a:t>
            </a:r>
            <a:endParaRPr lang="en-US" sz="750" dirty="0"/>
          </a:p>
        </p:txBody>
      </p:sp>
      <p:sp>
        <p:nvSpPr>
          <p:cNvPr id="193" name="Text 191"/>
          <p:cNvSpPr/>
          <p:nvPr/>
        </p:nvSpPr>
        <p:spPr>
          <a:xfrm>
            <a:off x="3728442" y="4424874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194" name="Text 192"/>
          <p:cNvSpPr/>
          <p:nvPr/>
        </p:nvSpPr>
        <p:spPr>
          <a:xfrm>
            <a:off x="3728442" y="4444198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development in a distributed environment: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104–119.</a:t>
            </a:r>
            <a:endParaRPr lang="en-US" sz="750" dirty="0"/>
          </a:p>
        </p:txBody>
      </p:sp>
      <p:sp>
        <p:nvSpPr>
          <p:cNvPr id="195" name="Text 193"/>
          <p:cNvSpPr/>
          <p:nvPr/>
        </p:nvSpPr>
        <p:spPr>
          <a:xfrm>
            <a:off x="3728442" y="4463522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What do we know about agile software development?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25, 6–9.</a:t>
            </a:r>
            <a:endParaRPr lang="en-US" sz="750" dirty="0"/>
          </a:p>
        </p:txBody>
      </p:sp>
      <p:sp>
        <p:nvSpPr>
          <p:cNvPr id="196" name="Text 194"/>
          <p:cNvSpPr/>
          <p:nvPr/>
        </p:nvSpPr>
        <p:spPr>
          <a:xfrm>
            <a:off x="3728442" y="44828460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Chow, J.; Cao, L. A survey of agile development methodologies.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2008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Beijing, China, 10–18 May 2008; pp. 138–147.</a:t>
            </a:r>
            <a:endParaRPr lang="en-US" sz="750" dirty="0"/>
          </a:p>
        </p:txBody>
      </p:sp>
      <p:sp>
        <p:nvSpPr>
          <p:cNvPr id="197" name="Text 195"/>
          <p:cNvSpPr/>
          <p:nvPr/>
        </p:nvSpPr>
        <p:spPr>
          <a:xfrm>
            <a:off x="3728442" y="451802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VersionOne.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 of Agile Report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VersionOne: Alpharetta, GA, USA, 2021.</a:t>
            </a:r>
            <a:endParaRPr lang="en-US" sz="750" dirty="0"/>
          </a:p>
        </p:txBody>
      </p:sp>
      <p:sp>
        <p:nvSpPr>
          <p:cNvPr id="198" name="Text 196"/>
          <p:cNvSpPr/>
          <p:nvPr/>
        </p:nvSpPr>
        <p:spPr>
          <a:xfrm>
            <a:off x="3728442" y="453735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199" name="Text 197"/>
          <p:cNvSpPr/>
          <p:nvPr/>
        </p:nvSpPr>
        <p:spPr>
          <a:xfrm>
            <a:off x="3728442" y="45566767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Inayat, I.; Salim, S.S.; Marczak, S.; Daneva, M.; Shamshirband, S. A systematic literature review on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62, 126–139.</a:t>
            </a:r>
            <a:endParaRPr lang="en-US" sz="750" dirty="0"/>
          </a:p>
        </p:txBody>
      </p:sp>
      <p:sp>
        <p:nvSpPr>
          <p:cNvPr id="200" name="Text 198"/>
          <p:cNvSpPr/>
          <p:nvPr/>
        </p:nvSpPr>
        <p:spPr>
          <a:xfrm>
            <a:off x="3728442" y="4591859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19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Fernández, C.; Fernández, S.; Genero, M. A systematic literature review on the effectiveness of agile software development methods.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85, 1–18.</a:t>
            </a:r>
            <a:endParaRPr lang="en-US" sz="750" dirty="0"/>
          </a:p>
        </p:txBody>
      </p:sp>
      <p:sp>
        <p:nvSpPr>
          <p:cNvPr id="201" name="Text 199"/>
          <p:cNvSpPr/>
          <p:nvPr/>
        </p:nvSpPr>
        <p:spPr>
          <a:xfrm>
            <a:off x="3728442" y="4627042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Dyba, T.; Dingsøyr, T. Strength of evidence in agile software development research.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2011, 16, 755–783.</a:t>
            </a:r>
            <a:endParaRPr lang="en-US" sz="750" dirty="0"/>
          </a:p>
        </p:txBody>
      </p:sp>
      <p:sp>
        <p:nvSpPr>
          <p:cNvPr id="202" name="Text 200"/>
          <p:cNvSpPr/>
          <p:nvPr/>
        </p:nvSpPr>
        <p:spPr>
          <a:xfrm>
            <a:off x="3728442" y="4646366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Empirical evidence on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680–699.</a:t>
            </a:r>
            <a:endParaRPr lang="en-US" sz="750" dirty="0"/>
          </a:p>
        </p:txBody>
      </p:sp>
      <p:sp>
        <p:nvSpPr>
          <p:cNvPr id="203" name="Text 201"/>
          <p:cNvSpPr/>
          <p:nvPr/>
        </p:nvSpPr>
        <p:spPr>
          <a:xfrm>
            <a:off x="3728442" y="4665690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Pekkola, S.; Salo, O. Agile requirements engineering: A review of current research and future directions.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2016, 111, 316–331.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3728442" y="4685014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An empirical study of the impact of social factors on agile teams.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22, 1079–1110.</a:t>
            </a:r>
            <a:endParaRPr lang="en-US" sz="750" dirty="0"/>
          </a:p>
        </p:txBody>
      </p:sp>
      <p:sp>
        <p:nvSpPr>
          <p:cNvPr id="205" name="Text 203"/>
          <p:cNvSpPr/>
          <p:nvPr/>
        </p:nvSpPr>
        <p:spPr>
          <a:xfrm>
            <a:off x="3728442" y="47043380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11–20.</a:t>
            </a:r>
            <a:endParaRPr lang="en-US" sz="750" dirty="0"/>
          </a:p>
        </p:txBody>
      </p:sp>
      <p:sp>
        <p:nvSpPr>
          <p:cNvPr id="206" name="Text 204"/>
          <p:cNvSpPr/>
          <p:nvPr/>
        </p:nvSpPr>
        <p:spPr>
          <a:xfrm>
            <a:off x="3728442" y="4739520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207" name="Text 205"/>
          <p:cNvSpPr/>
          <p:nvPr/>
        </p:nvSpPr>
        <p:spPr>
          <a:xfrm>
            <a:off x="3728442" y="4758844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208" name="Text 206"/>
          <p:cNvSpPr/>
          <p:nvPr/>
        </p:nvSpPr>
        <p:spPr>
          <a:xfrm>
            <a:off x="3728442" y="47781686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Alsaqaf, W.; Daneva, M.; Wieringa, R. Agile quality requirements engineering challenges: First results from a case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IEEE International Symposium on Empirical Software Engineering and Measurement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Toronto, ON, Canada, 9–10 November 2017; pp. 454–459.</a:t>
            </a:r>
            <a:endParaRPr lang="en-US" sz="750" dirty="0"/>
          </a:p>
        </p:txBody>
      </p:sp>
      <p:sp>
        <p:nvSpPr>
          <p:cNvPr id="209" name="Text 207"/>
          <p:cNvSpPr/>
          <p:nvPr/>
        </p:nvSpPr>
        <p:spPr>
          <a:xfrm>
            <a:off x="3728442" y="4813351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Paasivaara, M.; Lassenius, C.; Hallikainen, M. Scaling agile to distributed projects: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114–129.</a:t>
            </a:r>
            <a:endParaRPr lang="en-US" sz="750" dirty="0"/>
          </a:p>
        </p:txBody>
      </p:sp>
      <p:sp>
        <p:nvSpPr>
          <p:cNvPr id="210" name="Text 208"/>
          <p:cNvSpPr/>
          <p:nvPr/>
        </p:nvSpPr>
        <p:spPr>
          <a:xfrm>
            <a:off x="3728442" y="483267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0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Sveen, F.O.; Torkar, R. A systematic literature review on challenges and success factors in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150, 115–129.</a:t>
            </a:r>
            <a:endParaRPr lang="en-US" sz="750" dirty="0"/>
          </a:p>
        </p:txBody>
      </p:sp>
      <p:sp>
        <p:nvSpPr>
          <p:cNvPr id="211" name="Text 209"/>
          <p:cNvSpPr/>
          <p:nvPr/>
        </p:nvSpPr>
        <p:spPr>
          <a:xfrm>
            <a:off x="3728442" y="4851999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Begel, A.; Nagappan, N. Usage and perception of agile software development in industry: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153, 1–17.</a:t>
            </a:r>
            <a:endParaRPr lang="en-US" sz="750" dirty="0"/>
          </a:p>
        </p:txBody>
      </p:sp>
      <p:sp>
        <p:nvSpPr>
          <p:cNvPr id="212" name="Text 210"/>
          <p:cNvSpPr/>
          <p:nvPr/>
        </p:nvSpPr>
        <p:spPr>
          <a:xfrm>
            <a:off x="3728442" y="4871323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Verner, J.M.; Brereton, O.P.; Kitchenham, B.A.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128–142.</a:t>
            </a:r>
            <a:endParaRPr lang="en-US" sz="750" dirty="0"/>
          </a:p>
        </p:txBody>
      </p:sp>
      <p:sp>
        <p:nvSpPr>
          <p:cNvPr id="213" name="Text 211"/>
          <p:cNvSpPr/>
          <p:nvPr/>
        </p:nvSpPr>
        <p:spPr>
          <a:xfrm>
            <a:off x="3728442" y="4890647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Dingsøyr, T.; Lassenius, C.; Paasivaara, M. Current research on agile software development—An industrial perspective.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2018, 93, 1–12.</a:t>
            </a:r>
            <a:endParaRPr lang="en-US" sz="750" dirty="0"/>
          </a:p>
        </p:txBody>
      </p:sp>
      <p:sp>
        <p:nvSpPr>
          <p:cNvPr id="214" name="Text 212"/>
          <p:cNvSpPr/>
          <p:nvPr/>
        </p:nvSpPr>
        <p:spPr>
          <a:xfrm>
            <a:off x="3728442" y="4909970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Cao, L.; Ramesh, B. Agile requirements engineering: A systematic literature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2013, 55, 991–1007.</a:t>
            </a:r>
            <a:endParaRPr lang="en-US" sz="750" dirty="0"/>
          </a:p>
        </p:txBody>
      </p:sp>
      <p:sp>
        <p:nvSpPr>
          <p:cNvPr id="215" name="Text 213"/>
          <p:cNvSpPr/>
          <p:nvPr/>
        </p:nvSpPr>
        <p:spPr>
          <a:xfrm>
            <a:off x="3728442" y="4929294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Qumer, A.; Henderson, B. A comparative study of agile software development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Softw. Eng. Res. Dev.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1, 1–18.</a:t>
            </a:r>
            <a:endParaRPr lang="en-US" sz="750" dirty="0"/>
          </a:p>
        </p:txBody>
      </p:sp>
      <p:sp>
        <p:nvSpPr>
          <p:cNvPr id="216" name="Text 214"/>
          <p:cNvSpPr/>
          <p:nvPr/>
        </p:nvSpPr>
        <p:spPr>
          <a:xfrm>
            <a:off x="3728442" y="4948618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Schwaber,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Project Management with Scrum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Microsoft Press: Redmond, WA, USA, 2004.</a:t>
            </a:r>
            <a:endParaRPr lang="en-US" sz="750" dirty="0"/>
          </a:p>
        </p:txBody>
      </p:sp>
      <p:sp>
        <p:nvSpPr>
          <p:cNvPr id="217" name="Text 215"/>
          <p:cNvSpPr/>
          <p:nvPr/>
        </p:nvSpPr>
        <p:spPr>
          <a:xfrm>
            <a:off x="3728442" y="4967942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Beck,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Extreme Programming Explained: Embrace Change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1999.</a:t>
            </a:r>
            <a:endParaRPr lang="en-US" sz="750" dirty="0"/>
          </a:p>
        </p:txBody>
      </p:sp>
      <p:sp>
        <p:nvSpPr>
          <p:cNvPr id="218" name="Text 216"/>
          <p:cNvSpPr/>
          <p:nvPr/>
        </p:nvSpPr>
        <p:spPr>
          <a:xfrm>
            <a:off x="3728442" y="4987266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Cohn, M.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Stories Applied: For 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219" name="Text 217"/>
          <p:cNvSpPr/>
          <p:nvPr/>
        </p:nvSpPr>
        <p:spPr>
          <a:xfrm>
            <a:off x="3728442" y="5006590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Larman, C.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and Iterative Development: A Manager’s Guide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2004.</a:t>
            </a:r>
            <a:endParaRPr lang="en-US" sz="750" dirty="0"/>
          </a:p>
        </p:txBody>
      </p:sp>
      <p:sp>
        <p:nvSpPr>
          <p:cNvPr id="220" name="Text 218"/>
          <p:cNvSpPr/>
          <p:nvPr/>
        </p:nvSpPr>
        <p:spPr>
          <a:xfrm>
            <a:off x="3728442" y="5025913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1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Highsmith, J.A.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 Ecosystems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2002.</a:t>
            </a:r>
            <a:endParaRPr lang="en-US" sz="750" dirty="0"/>
          </a:p>
        </p:txBody>
      </p:sp>
      <p:sp>
        <p:nvSpPr>
          <p:cNvPr id="221" name="Text 219"/>
          <p:cNvSpPr/>
          <p:nvPr/>
        </p:nvSpPr>
        <p:spPr>
          <a:xfrm>
            <a:off x="3728442" y="5045237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Kruchten, P. The Rational Unified Process—An Introduction. Addison-Wesley Professional: Boston, MA, USA, 2000.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3728442" y="5064561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Boehm, B. A spiral model of software development and enhancement.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Computer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1988, 21, 61–72.</a:t>
            </a:r>
            <a:endParaRPr lang="en-US" sz="750" dirty="0"/>
          </a:p>
        </p:txBody>
      </p:sp>
      <p:sp>
        <p:nvSpPr>
          <p:cNvPr id="223" name="Text 221"/>
          <p:cNvSpPr/>
          <p:nvPr/>
        </p:nvSpPr>
        <p:spPr>
          <a:xfrm>
            <a:off x="3728442" y="5083885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Cockburn, A.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Agile Software Development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2001.</a:t>
            </a:r>
            <a:endParaRPr lang="en-US" sz="750" dirty="0"/>
          </a:p>
        </p:txBody>
      </p:sp>
      <p:sp>
        <p:nvSpPr>
          <p:cNvPr id="224" name="Text 222"/>
          <p:cNvSpPr/>
          <p:nvPr/>
        </p:nvSpPr>
        <p:spPr>
          <a:xfrm>
            <a:off x="3728442" y="5103209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Poppendieck, M.; Poppendieck, T.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Lean Software Development: An Agile Toolkit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Addison-Wesley Professional: Boston, MA, USA, 2003.</a:t>
            </a:r>
            <a:endParaRPr lang="en-US" sz="750" dirty="0"/>
          </a:p>
        </p:txBody>
      </p:sp>
      <p:sp>
        <p:nvSpPr>
          <p:cNvPr id="225" name="Text 223"/>
          <p:cNvSpPr/>
          <p:nvPr/>
        </p:nvSpPr>
        <p:spPr>
          <a:xfrm>
            <a:off x="3728442" y="5122533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Rising, L.; Janoff, N. The Scrum Handbook: A Guide to the Agile Software Development Process. Addison-Wesley Professional: Boston, MA, USA, 2000.</a:t>
            </a:r>
            <a:endParaRPr lang="en-US" sz="750" dirty="0"/>
          </a:p>
        </p:txBody>
      </p:sp>
      <p:sp>
        <p:nvSpPr>
          <p:cNvPr id="226" name="Text 224"/>
          <p:cNvSpPr/>
          <p:nvPr/>
        </p:nvSpPr>
        <p:spPr>
          <a:xfrm>
            <a:off x="3728442" y="5141856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Sutherland, J.; Schwaber, K. The Scrum Guide. Available online: </a:t>
            </a:r>
            <a:r>
              <a:rPr lang="en-US" sz="750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https://www.scrum.org/resources/scrum-guide</a:t>
            </a:r>
            <a:endParaRPr lang="en-US" sz="750" dirty="0"/>
          </a:p>
        </p:txBody>
      </p:sp>
      <p:sp>
        <p:nvSpPr>
          <p:cNvPr id="227" name="Text 225"/>
          <p:cNvSpPr/>
          <p:nvPr/>
        </p:nvSpPr>
        <p:spPr>
          <a:xfrm>
            <a:off x="3728442" y="5161180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Royce, W.W. Managing the development of large software systems: Concepts and techniques.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9th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Monterey, CA, USA, 30 March–2 April 1987; pp. 328–338.</a:t>
            </a:r>
            <a:endParaRPr lang="en-US" sz="750" dirty="0"/>
          </a:p>
        </p:txBody>
      </p:sp>
      <p:sp>
        <p:nvSpPr>
          <p:cNvPr id="228" name="Text 226"/>
          <p:cNvSpPr/>
          <p:nvPr/>
        </p:nvSpPr>
        <p:spPr>
          <a:xfrm>
            <a:off x="3728442" y="5196363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Stake, R.E.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Art of Case Study Research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1995.</a:t>
            </a:r>
            <a:endParaRPr lang="en-US" sz="750" dirty="0"/>
          </a:p>
        </p:txBody>
      </p:sp>
      <p:sp>
        <p:nvSpPr>
          <p:cNvPr id="229" name="Text 227"/>
          <p:cNvSpPr/>
          <p:nvPr/>
        </p:nvSpPr>
        <p:spPr>
          <a:xfrm>
            <a:off x="3728442" y="5215687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Yin, R.K.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Case Study Research: Design and Methods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Sage: Thousand Oaks, CA, USA, 2018.</a:t>
            </a:r>
            <a:endParaRPr lang="en-US" sz="750" dirty="0"/>
          </a:p>
        </p:txBody>
      </p:sp>
      <p:sp>
        <p:nvSpPr>
          <p:cNvPr id="230" name="Text 228"/>
          <p:cNvSpPr/>
          <p:nvPr/>
        </p:nvSpPr>
        <p:spPr>
          <a:xfrm>
            <a:off x="3728442" y="5235011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2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Kitchenham, B.; Charters, S. Guidelines for performing systematic literature reviews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Eng. Softw. Artic.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2007, 2, 1051–1058.</a:t>
            </a:r>
            <a:endParaRPr lang="en-US" sz="750" dirty="0"/>
          </a:p>
        </p:txBody>
      </p:sp>
      <p:sp>
        <p:nvSpPr>
          <p:cNvPr id="231" name="Text 229"/>
          <p:cNvSpPr/>
          <p:nvPr/>
        </p:nvSpPr>
        <p:spPr>
          <a:xfrm>
            <a:off x="3728442" y="5254335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Wohlin, C.; Runeson, P.; Host, M.; Rainer, A.; Regnell, B.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Experimentation in Software Engineering: An Introduction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2012.</a:t>
            </a:r>
            <a:endParaRPr lang="en-US" sz="750" dirty="0"/>
          </a:p>
        </p:txBody>
      </p:sp>
      <p:sp>
        <p:nvSpPr>
          <p:cNvPr id="232" name="Text 230"/>
          <p:cNvSpPr/>
          <p:nvPr/>
        </p:nvSpPr>
        <p:spPr>
          <a:xfrm>
            <a:off x="3728442" y="52736591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Petersen, K.; Vakkalanka, S.; Kuzniarz, L.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Guidelines for Conducting Systematic Mapping Studies in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IEEE Press: Piscataway, NJ, USA, 2008.</a:t>
            </a:r>
            <a:endParaRPr lang="en-US" sz="750" dirty="0"/>
          </a:p>
        </p:txBody>
      </p:sp>
      <p:sp>
        <p:nvSpPr>
          <p:cNvPr id="233" name="Text 231"/>
          <p:cNvSpPr/>
          <p:nvPr/>
        </p:nvSpPr>
        <p:spPr>
          <a:xfrm>
            <a:off x="3728442" y="53088421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Runeson, P.; Höst, M. Guidelines for conducting and reporting case study research in software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2009, 14, 131–164.</a:t>
            </a:r>
            <a:endParaRPr lang="en-US" sz="750" dirty="0"/>
          </a:p>
        </p:txBody>
      </p:sp>
      <p:sp>
        <p:nvSpPr>
          <p:cNvPr id="234" name="Text 232"/>
          <p:cNvSpPr/>
          <p:nvPr/>
        </p:nvSpPr>
        <p:spPr>
          <a:xfrm>
            <a:off x="3728442" y="5328165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Feltz, C.; Petersen, K. A systematic literature review on agile software development success factors.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63, 1–16.</a:t>
            </a:r>
            <a:endParaRPr lang="en-US" sz="750" dirty="0"/>
          </a:p>
        </p:txBody>
      </p:sp>
      <p:sp>
        <p:nvSpPr>
          <p:cNvPr id="235" name="Text 233"/>
          <p:cNvSpPr/>
          <p:nvPr/>
        </p:nvSpPr>
        <p:spPr>
          <a:xfrm>
            <a:off x="3728442" y="5347489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13th International Conference on Software Engineering and Knowledge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Buenos Aires, Argentina, 11–13 July 2001; pp. 581–588.</a:t>
            </a:r>
            <a:endParaRPr lang="en-US" sz="750" dirty="0"/>
          </a:p>
        </p:txBody>
      </p:sp>
      <p:sp>
        <p:nvSpPr>
          <p:cNvPr id="236" name="Text 234"/>
          <p:cNvSpPr/>
          <p:nvPr/>
        </p:nvSpPr>
        <p:spPr>
          <a:xfrm>
            <a:off x="3728442" y="53826728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Abrahamsson, P.; Warsta, J.; Siponen, M.T.; Ronkainen, J. New directions on agile methods: A comparative analysis.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244–253.</a:t>
            </a:r>
            <a:endParaRPr lang="en-US" sz="750" dirty="0"/>
          </a:p>
        </p:txBody>
      </p:sp>
      <p:sp>
        <p:nvSpPr>
          <p:cNvPr id="237" name="Text 235"/>
          <p:cNvSpPr/>
          <p:nvPr/>
        </p:nvSpPr>
        <p:spPr>
          <a:xfrm>
            <a:off x="3728442" y="5417855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Nerur, S.; Mahapatra, R.; Mangalaraj, S. Challenges of migrating to agile methodologies.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Commun. ACM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2005, 48, 72–78.</a:t>
            </a:r>
            <a:endParaRPr lang="en-US" sz="750" dirty="0"/>
          </a:p>
        </p:txBody>
      </p:sp>
      <p:sp>
        <p:nvSpPr>
          <p:cNvPr id="238" name="Text 236"/>
          <p:cNvSpPr/>
          <p:nvPr/>
        </p:nvSpPr>
        <p:spPr>
          <a:xfrm>
            <a:off x="3728442" y="54371796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Conboy, K.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Systematic Literature Review of Agile Software Development Success Factors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Springer: Berlin/Heidelberg, Germany, 2009; pp. 1–15.</a:t>
            </a:r>
            <a:endParaRPr lang="en-US" sz="750" dirty="0"/>
          </a:p>
        </p:txBody>
      </p:sp>
      <p:sp>
        <p:nvSpPr>
          <p:cNvPr id="239" name="Text 237"/>
          <p:cNvSpPr/>
          <p:nvPr/>
        </p:nvSpPr>
        <p:spPr>
          <a:xfrm>
            <a:off x="3728442" y="54565034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Picard, R.; Abdessalem, T. Requirements engineering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11th International Conference on Software Engineering Research, Management and Applications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Paris, France, 26–28 August 2013; pp. 143–150.</a:t>
            </a:r>
            <a:endParaRPr lang="en-US" sz="750" dirty="0"/>
          </a:p>
        </p:txBody>
      </p:sp>
      <p:sp>
        <p:nvSpPr>
          <p:cNvPr id="240" name="Text 238"/>
          <p:cNvSpPr/>
          <p:nvPr/>
        </p:nvSpPr>
        <p:spPr>
          <a:xfrm>
            <a:off x="3728442" y="54916864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3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Kautz, K.; Kock, S. Challenges and success factors for agile software development in large organizations.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1–13.</a:t>
            </a:r>
            <a:endParaRPr lang="en-US" sz="750" dirty="0"/>
          </a:p>
        </p:txBody>
      </p:sp>
      <p:sp>
        <p:nvSpPr>
          <p:cNvPr id="241" name="Text 239"/>
          <p:cNvSpPr/>
          <p:nvPr/>
        </p:nvSpPr>
        <p:spPr>
          <a:xfrm>
            <a:off x="3728442" y="55110102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Social and psychological challenges in agile software development.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35th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San Francisco, CA, USA, 18–26 May 2013; pp. 62–71.</a:t>
            </a:r>
            <a:endParaRPr lang="en-US" sz="750" dirty="0"/>
          </a:p>
        </p:txBody>
      </p:sp>
      <p:sp>
        <p:nvSpPr>
          <p:cNvPr id="242" name="Text 240"/>
          <p:cNvSpPr/>
          <p:nvPr/>
        </p:nvSpPr>
        <p:spPr>
          <a:xfrm>
            <a:off x="3728442" y="5546193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Moe, N.B.; Dingsøyr, T.; Dybå, T. A systematic review of software engineering trends.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107, 104–121.</a:t>
            </a:r>
            <a:endParaRPr lang="en-US" sz="750" dirty="0"/>
          </a:p>
        </p:txBody>
      </p:sp>
      <p:sp>
        <p:nvSpPr>
          <p:cNvPr id="243" name="Text 241"/>
          <p:cNvSpPr/>
          <p:nvPr/>
        </p:nvSpPr>
        <p:spPr>
          <a:xfrm>
            <a:off x="3728442" y="5565517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development in a distributed environment: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104–119.</a:t>
            </a:r>
            <a:endParaRPr lang="en-US" sz="750" dirty="0"/>
          </a:p>
        </p:txBody>
      </p:sp>
      <p:sp>
        <p:nvSpPr>
          <p:cNvPr id="244" name="Text 242"/>
          <p:cNvSpPr/>
          <p:nvPr/>
        </p:nvSpPr>
        <p:spPr>
          <a:xfrm>
            <a:off x="3728442" y="55848409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What do we know about agile software development?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IEEE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25, 6–9.</a:t>
            </a:r>
            <a:endParaRPr lang="en-US" sz="750" dirty="0"/>
          </a:p>
        </p:txBody>
      </p:sp>
      <p:sp>
        <p:nvSpPr>
          <p:cNvPr id="245" name="Text 243"/>
          <p:cNvSpPr/>
          <p:nvPr/>
        </p:nvSpPr>
        <p:spPr>
          <a:xfrm>
            <a:off x="3728442" y="56041647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Chow, J.; Cao, L. A survey of agile development methodologies.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2008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Beijing, China, 10–18 May 2008; pp. 138–147.</a:t>
            </a:r>
            <a:endParaRPr lang="en-US" sz="750" dirty="0"/>
          </a:p>
        </p:txBody>
      </p:sp>
      <p:sp>
        <p:nvSpPr>
          <p:cNvPr id="246" name="Text 244"/>
          <p:cNvSpPr/>
          <p:nvPr/>
        </p:nvSpPr>
        <p:spPr>
          <a:xfrm>
            <a:off x="3728442" y="5639347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5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VersionOne.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 of Agile Report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VersionOne: Alpharetta, GA, USA, 2021.</a:t>
            </a:r>
            <a:endParaRPr lang="en-US" sz="750" dirty="0"/>
          </a:p>
        </p:txBody>
      </p:sp>
      <p:sp>
        <p:nvSpPr>
          <p:cNvPr id="247" name="Text 245"/>
          <p:cNvSpPr/>
          <p:nvPr/>
        </p:nvSpPr>
        <p:spPr>
          <a:xfrm>
            <a:off x="3728442" y="56586715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6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Tripp, M.A.; Maijala, S.; Salo, O. Agile requirements engineering in practice: A multiple case study.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2019, 106, 217–231.</a:t>
            </a:r>
            <a:endParaRPr lang="en-US" sz="750" dirty="0"/>
          </a:p>
        </p:txBody>
      </p:sp>
      <p:sp>
        <p:nvSpPr>
          <p:cNvPr id="248" name="Text 246"/>
          <p:cNvSpPr/>
          <p:nvPr/>
        </p:nvSpPr>
        <p:spPr>
          <a:xfrm>
            <a:off x="3728442" y="56779954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7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Inayat, I.; Salim, S.S.; Marczak, S.; Daneva, M.; Shamshirband, S. A systematic literature review on agile requirements engineering.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2015, 62, 126–139.</a:t>
            </a:r>
            <a:endParaRPr lang="en-US" sz="750" dirty="0"/>
          </a:p>
        </p:txBody>
      </p:sp>
      <p:sp>
        <p:nvSpPr>
          <p:cNvPr id="249" name="Text 247"/>
          <p:cNvSpPr/>
          <p:nvPr/>
        </p:nvSpPr>
        <p:spPr>
          <a:xfrm>
            <a:off x="3728442" y="57131783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8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Fernández, C.; Fernández, S.; Genero, M. A systematic literature review on the effectiveness of agile software development methods.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85, 1–18.</a:t>
            </a:r>
            <a:endParaRPr lang="en-US" sz="750" dirty="0"/>
          </a:p>
        </p:txBody>
      </p:sp>
      <p:sp>
        <p:nvSpPr>
          <p:cNvPr id="250" name="Text 248"/>
          <p:cNvSpPr/>
          <p:nvPr/>
        </p:nvSpPr>
        <p:spPr>
          <a:xfrm>
            <a:off x="3728442" y="57483613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49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Dyba, T.; Dingsøyr, T. Strength of evidence in agile software development research.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2011, 16, 755–783.</a:t>
            </a:r>
            <a:endParaRPr lang="en-US" sz="750" dirty="0"/>
          </a:p>
        </p:txBody>
      </p:sp>
      <p:sp>
        <p:nvSpPr>
          <p:cNvPr id="251" name="Text 249"/>
          <p:cNvSpPr/>
          <p:nvPr/>
        </p:nvSpPr>
        <p:spPr>
          <a:xfrm>
            <a:off x="3728442" y="57676852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0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Dybå, T.; Dingsøyr, T. Empirical evidence on agile software development: A systematic review.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Inf. Softw. Technol.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2008, 50, 680–699.</a:t>
            </a:r>
            <a:endParaRPr lang="en-US" sz="750" dirty="0"/>
          </a:p>
        </p:txBody>
      </p:sp>
      <p:sp>
        <p:nvSpPr>
          <p:cNvPr id="252" name="Text 250"/>
          <p:cNvSpPr/>
          <p:nvPr/>
        </p:nvSpPr>
        <p:spPr>
          <a:xfrm>
            <a:off x="3728442" y="57870090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1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Ramesh, B.; Pekkola, S.; Salo, O. Agile requirements engineering: A review of current research and future directions.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J. Syst. Softw.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2016, 111, 316–331.</a:t>
            </a:r>
            <a:endParaRPr lang="en-US" sz="750" dirty="0"/>
          </a:p>
        </p:txBody>
      </p:sp>
      <p:sp>
        <p:nvSpPr>
          <p:cNvPr id="253" name="Text 251"/>
          <p:cNvSpPr/>
          <p:nvPr/>
        </p:nvSpPr>
        <p:spPr>
          <a:xfrm>
            <a:off x="3728442" y="58063328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2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Hoda, R.; Noble, J.; Sarro, F. An empirical study of the impact of social factors on agile teams.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Empir. Softw.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22, 1079–1110.</a:t>
            </a:r>
            <a:endParaRPr lang="en-US" sz="750" dirty="0"/>
          </a:p>
        </p:txBody>
      </p:sp>
      <p:sp>
        <p:nvSpPr>
          <p:cNvPr id="254" name="Text 252"/>
          <p:cNvSpPr/>
          <p:nvPr/>
        </p:nvSpPr>
        <p:spPr>
          <a:xfrm>
            <a:off x="3728442" y="58256567"/>
            <a:ext cx="7173397" cy="3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3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Salo, O.; Abrahamsson, P. Agile software development: A comparative study. In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Proceedings of the 2003 International Conference on Software Engineering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Portland, OR, USA, 3–10 May 2003; pp. 11–20.</a:t>
            </a:r>
            <a:endParaRPr lang="en-US" sz="750" dirty="0"/>
          </a:p>
        </p:txBody>
      </p:sp>
      <p:sp>
        <p:nvSpPr>
          <p:cNvPr id="255" name="Text 253"/>
          <p:cNvSpPr/>
          <p:nvPr/>
        </p:nvSpPr>
        <p:spPr>
          <a:xfrm>
            <a:off x="3728442" y="58608397"/>
            <a:ext cx="7173397" cy="158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250"/>
              </a:lnSpc>
              <a:buSzPct val="100000"/>
              <a:buFont typeface="+mj-lt"/>
              <a:buAutoNum type="arabicPeriod" startAt="254"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Anand, R.V.; Dinakaran, M. Handling stakeholder conflict by agile requirements prioritization using Apriori technique. </a:t>
            </a:r>
            <a:r>
              <a:rPr lang="en-US" sz="75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Comput. Electr. Eng.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2017, 61, 126–136.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9371</Words>
  <Application>Microsoft Office PowerPoint</Application>
  <PresentationFormat>Custom</PresentationFormat>
  <Paragraphs>428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Raleway</vt:lpstr>
      <vt:lpstr>Raleway Light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Tawhid, Ekhtiar</dc:creator>
  <cp:lastModifiedBy>10635-Ahsan-Kabir</cp:lastModifiedBy>
  <cp:revision>1</cp:revision>
  <dcterms:created xsi:type="dcterms:W3CDTF">2026-01-16T06:02:15Z</dcterms:created>
  <dcterms:modified xsi:type="dcterms:W3CDTF">2026-01-16T06:56:45Z</dcterms:modified>
</cp:coreProperties>
</file>